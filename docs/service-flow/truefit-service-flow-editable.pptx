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4a38ea386d4774" /><Relationship Type="http://schemas.openxmlformats.org/officeDocument/2006/relationships/extended-properties" Target="/docProps/app.xml" Id="R4da099aa4a584c8a" /><Relationship Type="http://schemas.openxmlformats.org/officeDocument/2006/relationships/officeDocument" Target="/ppt/presentation.xml" Id="R91c07749d63f4f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deaf3e6a2f4d78"/>
  </p:sldMasterIdLst>
  <p:notesMasterIdLst>
    <p:notesMasterId xmlns:r="http://schemas.openxmlformats.org/officeDocument/2006/relationships" r:id="R64a4e1457f4b46c2"/>
  </p:notesMasterIdLst>
  <p:sldIdLst>
    <p:sldId xmlns:r="http://schemas.openxmlformats.org/officeDocument/2006/relationships" id="256" r:id="R02c49758d558402e"/>
    <p:sldId xmlns:r="http://schemas.openxmlformats.org/officeDocument/2006/relationships" id="257" r:id="R37805376485a41dc"/>
    <p:sldId xmlns:r="http://schemas.openxmlformats.org/officeDocument/2006/relationships" id="258" r:id="Rf647fe4998fb4fd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c2b40cbca74b38" /><Relationship Type="http://schemas.openxmlformats.org/officeDocument/2006/relationships/slideMaster" Target="/ppt/slideMasters/slideMaster1.xml" Id="Reedeaf3e6a2f4d78" /><Relationship Type="http://schemas.openxmlformats.org/officeDocument/2006/relationships/notesMaster" Target="/ppt/notesMasters/notesMaster1.xml" Id="R64a4e1457f4b46c2" /><Relationship Type="http://schemas.openxmlformats.org/officeDocument/2006/relationships/presProps" Target="/ppt/presProps.xml" Id="Rea335d4b94a34fc0" /><Relationship Type="http://schemas.openxmlformats.org/officeDocument/2006/relationships/tableStyles" Target="/ppt/tableStyles.xml" Id="Reb9569ff5e4046b1" /><Relationship Type="http://schemas.openxmlformats.org/officeDocument/2006/relationships/slide" Target="/ppt/slides/slide1.xml" Id="R02c49758d558402e" /><Relationship Type="http://schemas.openxmlformats.org/officeDocument/2006/relationships/slide" Target="/ppt/slides/slide2.xml" Id="R37805376485a41dc" /><Relationship Type="http://schemas.openxmlformats.org/officeDocument/2006/relationships/slide" Target="/ppt/slides/slide3.xml" Id="Rf647fe4998fb4f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ca5ca972fc43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47f9bf064d4a78" /><Relationship Type="http://schemas.openxmlformats.org/officeDocument/2006/relationships/notesMaster" Target="/ppt/notesMasters/notesMaster1.xml" Id="R18037d07ce9c4e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0be785b775400e" /><Relationship Type="http://schemas.openxmlformats.org/officeDocument/2006/relationships/notesMaster" Target="/ppt/notesMasters/notesMaster1.xml" Id="R3e51d9e5d66947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a6ba56926b470a" /><Relationship Type="http://schemas.openxmlformats.org/officeDocument/2006/relationships/notesMaster" Target="/ppt/notesMasters/notesMaster1.xml" Id="Rbb7925fa17a54b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프로젝트_기획서_v2.md; 기술기획서_데모+최종.md; docs/db/table_spec.md v4. 전체 서비스 완성 시점을 표현한다. 현행 개발 단계와 구분하지 않는다. 기술기획서 최종 범위의 사후 개선 배치를 포함하되, 원문 보관·리뷰 평가·합성 데이터 격리는 v4 정책을 따른다. 요리 도메인은 포함하지 않는다. 사용자 흐름: 기술기획서 2~3절. 가격 추적·재편집: 테이블 명세 51~53, 8~9절. 외부 구매 링크 클릭만으로 구매 완료를 판정하지 않으며 직접 작성 전체 PC 리뷰에는 자기신고 구성과 공개 동의가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프로젝트_기획서_v2.md; 기술기획서_데모+최종.md; docs/db/table_spec.md v4. 전체 서비스 완성 시점을 표현한다. 현행 개발 단계와 구분하지 않는다. 기술기획서 최종 범위의 사후 개선 배치를 포함하되, 원문 보관·리뷰 평가·합성 데이터 격리는 v4 정책을 따른다. 요리 도메인은 포함하지 않는다. 엔진: 기술기획서 4~11절. 규칙 기반 필터·점수·최적화와 LLM의 조건 추출·근거 문장화를 구분한다. 적대적 디베이트는 폐기한 기획이므로 포함하지 않는다. PC 세트 검증과 유아 품목별 검증의 순서를 보존했다. 재탐색은 설정된 한도 내 수행하며 유아 안전축 미해결 후보는 제외한다. 숫자 임계값은 운영 보정 대상이므로 본 도식에서는 기준 미달로 표현했다.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프로젝트_기획서_v2.md; 기술기획서_데모+최종.md; docs/db/table_spec.md v4. 전체 서비스 완성 시점을 표현한다. 현행 개발 단계와 구분하지 않는다. 기술기획서 최종 범위의 사후 개선 배치를 포함하되, 원문 보관·리뷰 평가·합성 데이터 격리는 v4 정책을 따른다. 요리 도메인은 포함하지 않는다. 자료: 명세 8.1~8.3절. 외부 리뷰 원문은 저장하지 않고 허용된 요약·출처·비원문 분석값을 사용하며 직접 작성 본문은 버전 관리한다. 리뷰: 명세 8.4~8.6절. 실구매 표시는 진실성 정답이 아니며 supported/manipulation_indicators/undetermined 근거 판정과 분리한다. 실제 train 부모 하나에서 증강하고 평가용 실제 표본은 사람 승인 라벨을 사용한다. 사후 개선: 기술기획서 12절의 최종 서비스 배치 흐름. 실구매 인증을 서비스가 자동 수행한다는 의미는 포함하지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fd5ee822544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0b5efac46c4057" /><Relationship Type="http://schemas.openxmlformats.org/officeDocument/2006/relationships/slideLayout" Target="/ppt/slideLayouts/slideLayout1.xml" Id="R8e75474b16f74c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75474b16f74c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fa0659e094f6f" /><Relationship Type="http://schemas.openxmlformats.org/officeDocument/2006/relationships/notesSlide" Target="/ppt/notesSlides/notesSlide1.xml" Id="R7160a747fd8a4f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a30dc9db34ab4" /><Relationship Type="http://schemas.openxmlformats.org/officeDocument/2006/relationships/notesSlide" Target="/ppt/notesSlides/notesSlide2.xml" Id="Ra71294cfb7d54b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aff38822c479b" /><Relationship Type="http://schemas.openxmlformats.org/officeDocument/2006/relationships/notesSlide" Target="/ppt/notesSlides/notesSlide3.xml" Id="R1f01fb85d97847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목적 입력부터 구매 이후까지">
            <a:extLst xmlns:a="http://schemas.openxmlformats.org/drawingml/2006/main">
              <a:ext uri="{FF2B5EF4-FFF2-40B4-BE49-F238E27FC236}">
                <a16:creationId xmlns:a16="http://schemas.microsoft.com/office/drawing/2014/main" id="{B60CBEE7-4A35-4BE4-9976-970AC00B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666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목적 입력부터 구매 이후까지</a:t>
            </a:r>
          </a:p>
        </p:txBody>
      </p:sp>
      <p:sp>
        <p:nvSpPr>
          <p:cNvPr id="2" name="가입 없이 추천과 근거를 살펴보고, 마음에 드는 구성을 저장해 구매와 사용으로 이어갑니다.">
            <a:extLst xmlns:a="http://schemas.openxmlformats.org/drawingml/2006/main">
              <a:ext uri="{FF2B5EF4-FFF2-40B4-BE49-F238E27FC236}">
                <a16:creationId xmlns:a16="http://schemas.microsoft.com/office/drawing/2014/main" id="{4B5DF2A9-A29F-4AD5-A851-8DFD4BA3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695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가입 없이 추천과 근거를 살펴보고, 마음에 드는 구성을 저장해 구매와 사용으로 이어갑니다.</a:t>
            </a:r>
          </a:p>
        </p:txBody>
      </p:sp>
      <p:sp>
        <p:nvSpPr>
          <p:cNvPr id="3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C847EB47-5C29-46BA-84D7-AF48A2D2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0"/>
            <a:ext cx="1714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3E9"/>
            </a:solidFill>
            <a:prstDash val="solid"/>
          </a:ln>
        </p:spPr>
      </p:sp>
      <p:sp>
        <p:nvSpPr>
          <p:cNvPr id="4" name="TrueFit  ·  전체 서비스 기획">
            <a:extLst xmlns:a="http://schemas.openxmlformats.org/drawingml/2006/main">
              <a:ext uri="{FF2B5EF4-FFF2-40B4-BE49-F238E27FC236}">
                <a16:creationId xmlns:a16="http://schemas.microsoft.com/office/drawing/2014/main" id="{B51AE5FC-F849-40A9-BDD9-DCC7DFB6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0"/>
            <a:ext cx="1619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TrueFit  ·  전체 서비스 기획</a:t>
            </a:r>
          </a:p>
        </p:txBody>
      </p:sp>
      <p:sp>
        <p:nvSpPr>
          <p:cNvPr id="5" name="1 / 3">
            <a:extLst xmlns:a="http://schemas.openxmlformats.org/drawingml/2006/main">
              <a:ext uri="{FF2B5EF4-FFF2-40B4-BE49-F238E27FC236}">
                <a16:creationId xmlns:a16="http://schemas.microsoft.com/office/drawing/2014/main" id="{292EAB13-0FDE-48A6-95A8-8DB4AFF6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7155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1 / 3</a:t>
            </a:r>
          </a:p>
        </p:txBody>
      </p:sp>
      <p:sp>
        <p:nvSpPr>
          <p:cNvPr id="6" name="대화 · 추천 · 근거 확인은 비로그인으로 이용">
            <a:extLst xmlns:a="http://schemas.openxmlformats.org/drawingml/2006/main">
              <a:ext uri="{FF2B5EF4-FFF2-40B4-BE49-F238E27FC236}">
                <a16:creationId xmlns:a16="http://schemas.microsoft.com/office/drawing/2014/main" id="{5D2CCE16-1EB3-4AF4-8E9F-00956331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대화 · 추천 · 근거 확인은 비로그인으로 이용</a:t>
            </a:r>
          </a:p>
        </p:txBody>
      </p:sp>
      <p:sp>
        <p:nvSpPr>
          <p:cNvPr id="7" name="저장 · 확정 · 알림 · 리뷰 작성은 로그인 후 이용">
            <a:extLst xmlns:a="http://schemas.openxmlformats.org/drawingml/2006/main">
              <a:ext uri="{FF2B5EF4-FFF2-40B4-BE49-F238E27FC236}">
                <a16:creationId xmlns:a16="http://schemas.microsoft.com/office/drawing/2014/main" id="{6420A657-CEB2-4EC5-8A17-9E08F453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71675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저장 · 확정 · 알림 · 리뷰 작성은 로그인 후 이용</a:t>
            </a:r>
          </a:p>
        </p:txBody>
      </p:sp>
      <p:sp>
        <p:nvSpPr>
          <p:cNvPr id="8" name="목적 선택">
            <a:extLst xmlns:a="http://schemas.openxmlformats.org/drawingml/2006/main">
              <a:ext uri="{FF2B5EF4-FFF2-40B4-BE49-F238E27FC236}">
                <a16:creationId xmlns:a16="http://schemas.microsoft.com/office/drawing/2014/main" id="{593424D5-DF15-4421-AEEB-32387A33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2286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9" name="목적 선택">
            <a:extLst xmlns:a="http://schemas.openxmlformats.org/drawingml/2006/main">
              <a:ext uri="{FF2B5EF4-FFF2-40B4-BE49-F238E27FC236}">
                <a16:creationId xmlns:a16="http://schemas.microsoft.com/office/drawing/2014/main" id="{A8C363D6-8590-4118-AFB0-FAA396FE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목적 선택</a:t>
            </a:r>
          </a:p>
        </p:txBody>
      </p:sp>
      <p:sp>
        <p:nvSpPr>
          <p:cNvPr id="10" name="PC / 유아용품&#10;신규 / 업그레이드">
            <a:extLst xmlns:a="http://schemas.openxmlformats.org/drawingml/2006/main">
              <a:ext uri="{FF2B5EF4-FFF2-40B4-BE49-F238E27FC236}">
                <a16:creationId xmlns:a16="http://schemas.microsoft.com/office/drawing/2014/main" id="{5D800635-13F4-49BE-A781-1A1A7BA2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190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PC / 유아용품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신규 / 업그레이드</a:t>
            </a:r>
          </a:p>
        </p:txBody>
      </p:sp>
      <p:sp>
        <p:nvSpPr>
          <p:cNvPr id="11" name="조건 대화">
            <a:extLst xmlns:a="http://schemas.openxmlformats.org/drawingml/2006/main">
              <a:ext uri="{FF2B5EF4-FFF2-40B4-BE49-F238E27FC236}">
                <a16:creationId xmlns:a16="http://schemas.microsoft.com/office/drawing/2014/main" id="{C699D7C3-B6EF-4B76-AC07-FF93E958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14625"/>
            <a:ext cx="2286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12" name="조건 대화">
            <a:extLst xmlns:a="http://schemas.openxmlformats.org/drawingml/2006/main">
              <a:ext uri="{FF2B5EF4-FFF2-40B4-BE49-F238E27FC236}">
                <a16:creationId xmlns:a16="http://schemas.microsoft.com/office/drawing/2014/main" id="{C2AB2157-5309-45C5-BC99-7E975E2B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051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조건 대화</a:t>
            </a:r>
          </a:p>
        </p:txBody>
      </p:sp>
      <p:sp>
        <p:nvSpPr>
          <p:cNvPr id="13" name="예산·용도·월령&#10;부족한 조건 질문">
            <a:extLst xmlns:a="http://schemas.openxmlformats.org/drawingml/2006/main">
              <a:ext uri="{FF2B5EF4-FFF2-40B4-BE49-F238E27FC236}">
                <a16:creationId xmlns:a16="http://schemas.microsoft.com/office/drawing/2014/main" id="{E91A7839-F067-4285-AFEA-F10BD00A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38525"/>
            <a:ext cx="190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예산·용도·월령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부족한 조건 질문</a:t>
            </a:r>
          </a:p>
        </p:txBody>
      </p:sp>
      <p:sp>
        <p:nvSpPr>
          <p:cNvPr id="14" name="추천 생성">
            <a:extLst xmlns:a="http://schemas.openxmlformats.org/drawingml/2006/main">
              <a:ext uri="{FF2B5EF4-FFF2-40B4-BE49-F238E27FC236}">
                <a16:creationId xmlns:a16="http://schemas.microsoft.com/office/drawing/2014/main" id="{970013D4-9277-4258-893E-562C9D3C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2286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15" name="추천 생성">
            <a:extLst xmlns:a="http://schemas.openxmlformats.org/drawingml/2006/main">
              <a:ext uri="{FF2B5EF4-FFF2-40B4-BE49-F238E27FC236}">
                <a16:creationId xmlns:a16="http://schemas.microsoft.com/office/drawing/2014/main" id="{9EAB2588-3E28-4CDC-B493-C843D651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051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추천 생성</a:t>
            </a:r>
          </a:p>
        </p:txBody>
      </p:sp>
      <p:sp>
        <p:nvSpPr>
          <p:cNvPr id="16" name="필요 품목 구성&#10;검증·예산 배분">
            <a:extLst xmlns:a="http://schemas.openxmlformats.org/drawingml/2006/main">
              <a:ext uri="{FF2B5EF4-FFF2-40B4-BE49-F238E27FC236}">
                <a16:creationId xmlns:a16="http://schemas.microsoft.com/office/drawing/2014/main" id="{7CDE44C2-C3A5-4027-962E-FC56A69E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38525"/>
            <a:ext cx="190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필요 품목 구성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검증·예산 배분</a:t>
            </a:r>
          </a:p>
        </p:txBody>
      </p:sp>
      <p:sp>
        <p:nvSpPr>
          <p:cNvPr id="17" name="비교·수정">
            <a:extLst xmlns:a="http://schemas.openxmlformats.org/drawingml/2006/main">
              <a:ext uri="{FF2B5EF4-FFF2-40B4-BE49-F238E27FC236}">
                <a16:creationId xmlns:a16="http://schemas.microsoft.com/office/drawing/2014/main" id="{DE5E353F-1430-4FB3-B0CC-0CB0212D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14625"/>
            <a:ext cx="2286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18" name="비교·수정">
            <a:extLst xmlns:a="http://schemas.openxmlformats.org/drawingml/2006/main">
              <a:ext uri="{FF2B5EF4-FFF2-40B4-BE49-F238E27FC236}">
                <a16:creationId xmlns:a16="http://schemas.microsoft.com/office/drawing/2014/main" id="{89F3034F-30F1-4782-994B-D8103301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051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비교·수정</a:t>
            </a:r>
          </a:p>
        </p:txBody>
      </p:sp>
      <p:sp>
        <p:nvSpPr>
          <p:cNvPr id="19" name="근거·리뷰·대안&#10;항목 교체·제외">
            <a:extLst xmlns:a="http://schemas.openxmlformats.org/drawingml/2006/main">
              <a:ext uri="{FF2B5EF4-FFF2-40B4-BE49-F238E27FC236}">
                <a16:creationId xmlns:a16="http://schemas.microsoft.com/office/drawing/2014/main" id="{8E2D16DF-F168-4C09-BE73-2FFCEB41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38525"/>
            <a:ext cx="190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근거·리뷰·대안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항목 교체·제외</a:t>
            </a:r>
          </a:p>
        </p:txBody>
      </p:sp>
      <p:sp>
        <p:nvSpPr>
          <p:cNvPr id="20" name="로그인·확정">
            <a:extLst xmlns:a="http://schemas.openxmlformats.org/drawingml/2006/main">
              <a:ext uri="{FF2B5EF4-FFF2-40B4-BE49-F238E27FC236}">
                <a16:creationId xmlns:a16="http://schemas.microsoft.com/office/drawing/2014/main" id="{8572B5F7-9986-4A86-9EF8-6843ACED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14625"/>
            <a:ext cx="2286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21" name="로그인·확정">
            <a:extLst xmlns:a="http://schemas.openxmlformats.org/drawingml/2006/main">
              <a:ext uri="{FF2B5EF4-FFF2-40B4-BE49-F238E27FC236}">
                <a16:creationId xmlns:a16="http://schemas.microsoft.com/office/drawing/2014/main" id="{E9D76502-1CD6-4AEF-93F9-E1B38FE4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051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로그인·확정</a:t>
            </a:r>
          </a:p>
        </p:txBody>
      </p:sp>
      <p:sp>
        <p:nvSpPr>
          <p:cNvPr id="22" name="이메일 코드 인증&#10;이름·구매일 저장">
            <a:extLst xmlns:a="http://schemas.openxmlformats.org/drawingml/2006/main">
              <a:ext uri="{FF2B5EF4-FFF2-40B4-BE49-F238E27FC236}">
                <a16:creationId xmlns:a16="http://schemas.microsoft.com/office/drawing/2014/main" id="{E61FAB94-2B09-44C3-B651-5E80D586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38525"/>
            <a:ext cx="190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이메일 코드 인증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이름·구매일 저장</a:t>
            </a:r>
          </a:p>
        </p:txBody>
      </p:sp>
      <p:sp>
        <p:nvSpPr>
          <p:cNvPr id="23" name="리포트·구매">
            <a:extLst xmlns:a="http://schemas.openxmlformats.org/drawingml/2006/main">
              <a:ext uri="{FF2B5EF4-FFF2-40B4-BE49-F238E27FC236}">
                <a16:creationId xmlns:a16="http://schemas.microsoft.com/office/drawing/2014/main" id="{AFEC72D7-8FB8-4AB8-B035-2F179EC3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714625"/>
            <a:ext cx="2286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24" name="리포트·구매">
            <a:extLst xmlns:a="http://schemas.openxmlformats.org/drawingml/2006/main">
              <a:ext uri="{FF2B5EF4-FFF2-40B4-BE49-F238E27FC236}">
                <a16:creationId xmlns:a16="http://schemas.microsoft.com/office/drawing/2014/main" id="{6889C03D-2F4E-4CFC-84DC-73033D26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9051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리포트·구매</a:t>
            </a:r>
          </a:p>
        </p:txBody>
      </p:sp>
      <p:sp>
        <p:nvSpPr>
          <p:cNvPr id="25" name="확정 구성 확인&#10;외부 쇼핑몰 이동">
            <a:extLst xmlns:a="http://schemas.openxmlformats.org/drawingml/2006/main">
              <a:ext uri="{FF2B5EF4-FFF2-40B4-BE49-F238E27FC236}">
                <a16:creationId xmlns:a16="http://schemas.microsoft.com/office/drawing/2014/main" id="{82B6F04B-9B21-4E76-A075-646D0F12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438525"/>
            <a:ext cx="190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확정 구성 확인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외부 쇼핑몰 이동</a:t>
            </a:r>
          </a:p>
        </p:txBody>
      </p:sp>
      <p:sp>
        <p:nvSpPr>
          <p:cNvPr id="26" name="사용 리뷰">
            <a:extLst xmlns:a="http://schemas.openxmlformats.org/drawingml/2006/main">
              <a:ext uri="{FF2B5EF4-FFF2-40B4-BE49-F238E27FC236}">
                <a16:creationId xmlns:a16="http://schemas.microsoft.com/office/drawing/2014/main" id="{A1BD3A32-83EE-4F40-818F-E7FD274E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2714625"/>
            <a:ext cx="2286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27" name="사용 리뷰">
            <a:extLst xmlns:a="http://schemas.openxmlformats.org/drawingml/2006/main">
              <a:ext uri="{FF2B5EF4-FFF2-40B4-BE49-F238E27FC236}">
                <a16:creationId xmlns:a16="http://schemas.microsoft.com/office/drawing/2014/main" id="{2274AAE6-5931-4FB5-84C3-B1C2EB34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9051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사용 리뷰</a:t>
            </a:r>
          </a:p>
        </p:txBody>
      </p:sp>
      <p:sp>
        <p:nvSpPr>
          <p:cNvPr id="28" name="부품 / 전체 구성&#10;실제 PC 사용 경험">
            <a:extLst xmlns:a="http://schemas.openxmlformats.org/drawingml/2006/main">
              <a:ext uri="{FF2B5EF4-FFF2-40B4-BE49-F238E27FC236}">
                <a16:creationId xmlns:a16="http://schemas.microsoft.com/office/drawing/2014/main" id="{8F08085A-F1F9-4682-9F49-08BE34E9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3438525"/>
            <a:ext cx="190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부품 / 전체 구성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실제 PC 사용 경험</a:t>
            </a:r>
          </a:p>
        </p:txBody>
      </p:sp>
      <p:cxnSp>
        <p:nvCxnSpPr>
          <p:cNvPr id="9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57500" y="36433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cxnSp>
        <p:nvCxnSpPr>
          <p:cNvPr id="94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334000" y="36433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cxnSp>
        <p:nvCxnSpPr>
          <p:cNvPr id="95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810500" y="36433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cxnSp>
        <p:nvCxnSpPr>
          <p:cNvPr id="96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287000" y="36433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cxnSp>
        <p:nvCxnSpPr>
          <p:cNvPr id="97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2763500" y="36433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cxnSp>
        <p:nvCxnSpPr>
          <p:cNvPr id="98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5240000" y="36433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sp>
        <p:nvSpPr>
          <p:cNvPr id="35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778B30A4-4FE4-474B-99A0-162C5377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36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40270106-D99C-4530-96BA-6938C6ED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37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17086BA2-31E7-4F4B-91C9-5EADAF8D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38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E89D8393-631B-474D-9CB6-18890377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00325"/>
            <a:ext cx="17145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878"/>
          </a:solidFill>
          <a:ln xmlns:a="http://schemas.openxmlformats.org/drawingml/2006/main" w="0">
            <a:solidFill>
              <a:srgbClr val="176878"/>
            </a:solidFill>
          </a:ln>
        </p:spPr>
      </p:sp>
      <p:sp>
        <p:nvSpPr>
          <p:cNvPr id="39" name="조건 변경·재추천">
            <a:extLst xmlns:a="http://schemas.openxmlformats.org/drawingml/2006/main">
              <a:ext uri="{FF2B5EF4-FFF2-40B4-BE49-F238E27FC236}">
                <a16:creationId xmlns:a16="http://schemas.microsoft.com/office/drawing/2014/main" id="{1FA2DC75-4D1E-4F7C-85AA-A3B4BA34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3360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조건 변경·재추천</a:t>
            </a:r>
          </a:p>
        </p:txBody>
      </p:sp>
      <p:sp>
        <p:nvSpPr>
          <p:cNvPr id="40" name="결제는 외부 쇼핑몰에서 진행">
            <a:extLst xmlns:a="http://schemas.openxmlformats.org/drawingml/2006/main">
              <a:ext uri="{FF2B5EF4-FFF2-40B4-BE49-F238E27FC236}">
                <a16:creationId xmlns:a16="http://schemas.microsoft.com/office/drawing/2014/main" id="{5D5C3404-E70F-424A-AE36-47C32898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8101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결제는 외부 쇼핑몰에서 진행</a:t>
            </a:r>
          </a:p>
        </p:txBody>
      </p:sp>
      <p:sp>
        <p:nvSpPr>
          <p:cNvPr id="41" name="가격 추적 설정">
            <a:extLst xmlns:a="http://schemas.openxmlformats.org/drawingml/2006/main">
              <a:ext uri="{FF2B5EF4-FFF2-40B4-BE49-F238E27FC236}">
                <a16:creationId xmlns:a16="http://schemas.microsoft.com/office/drawing/2014/main" id="{0F7D81AB-F5CE-421C-9A09-11427368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00750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42" name="가격 추적 설정">
            <a:extLst xmlns:a="http://schemas.openxmlformats.org/drawingml/2006/main">
              <a:ext uri="{FF2B5EF4-FFF2-40B4-BE49-F238E27FC236}">
                <a16:creationId xmlns:a16="http://schemas.microsoft.com/office/drawing/2014/main" id="{32724BD0-546D-4425-B71D-51A23416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191250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가격 추적 설정</a:t>
            </a:r>
          </a:p>
        </p:txBody>
      </p:sp>
      <p:sp>
        <p:nvSpPr>
          <p:cNvPr id="43" name="전체 구성 / 개별 항목&#10;목표가·종료일 지정">
            <a:extLst xmlns:a="http://schemas.openxmlformats.org/drawingml/2006/main">
              <a:ext uri="{FF2B5EF4-FFF2-40B4-BE49-F238E27FC236}">
                <a16:creationId xmlns:a16="http://schemas.microsoft.com/office/drawing/2014/main" id="{BD0C8511-9FB3-4AE0-B1DD-DBB8CCC6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724650"/>
            <a:ext cx="2619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전체 구성 / 개별 항목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목표가·종료일 지정</a:t>
            </a:r>
          </a:p>
        </p:txBody>
      </p:sp>
      <p:sp>
        <p:nvSpPr>
          <p:cNvPr id="44" name="가격·재고 확인">
            <a:extLst xmlns:a="http://schemas.openxmlformats.org/drawingml/2006/main">
              <a:ext uri="{FF2B5EF4-FFF2-40B4-BE49-F238E27FC236}">
                <a16:creationId xmlns:a16="http://schemas.microsoft.com/office/drawing/2014/main" id="{21C666CE-5A81-4BA6-8AAB-CF6709C3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00750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45" name="가격·재고 확인">
            <a:extLst xmlns:a="http://schemas.openxmlformats.org/drawingml/2006/main">
              <a:ext uri="{FF2B5EF4-FFF2-40B4-BE49-F238E27FC236}">
                <a16:creationId xmlns:a16="http://schemas.microsoft.com/office/drawing/2014/main" id="{52582EE2-ACA2-4D4D-9460-3E17FDD0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가격·재고 확인</a:t>
            </a:r>
          </a:p>
        </p:txBody>
      </p:sp>
      <p:sp>
        <p:nvSpPr>
          <p:cNvPr id="46" name="배송·할인 포함 비교&#10;조회 실패 시 판정 보류">
            <a:extLst xmlns:a="http://schemas.openxmlformats.org/drawingml/2006/main">
              <a:ext uri="{FF2B5EF4-FFF2-40B4-BE49-F238E27FC236}">
                <a16:creationId xmlns:a16="http://schemas.microsoft.com/office/drawing/2014/main" id="{ADC4C1BA-20A9-47FA-9A11-0F0C848E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24650"/>
            <a:ext cx="2619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배송·할인 포함 비교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조회 실패 시 판정 보류</a:t>
            </a:r>
          </a:p>
        </p:txBody>
      </p:sp>
      <p:sp>
        <p:nvSpPr>
          <p:cNvPr id="47" name="목표가 알림">
            <a:extLst xmlns:a="http://schemas.openxmlformats.org/drawingml/2006/main">
              <a:ext uri="{FF2B5EF4-FFF2-40B4-BE49-F238E27FC236}">
                <a16:creationId xmlns:a16="http://schemas.microsoft.com/office/drawing/2014/main" id="{3DD976A3-48C6-43C8-B9A1-BB3738E3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6000750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48" name="목표가 알림">
            <a:extLst xmlns:a="http://schemas.openxmlformats.org/drawingml/2006/main">
              <a:ext uri="{FF2B5EF4-FFF2-40B4-BE49-F238E27FC236}">
                <a16:creationId xmlns:a16="http://schemas.microsoft.com/office/drawing/2014/main" id="{7108BC7C-8BE6-4D21-A993-668534AC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6191250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목표가 알림</a:t>
            </a:r>
          </a:p>
        </p:txBody>
      </p:sp>
      <p:sp>
        <p:nvSpPr>
          <p:cNvPr id="49" name="목표 도달 시 이메일&#10;리포트에서 구매 링크">
            <a:extLst xmlns:a="http://schemas.openxmlformats.org/drawingml/2006/main">
              <a:ext uri="{FF2B5EF4-FFF2-40B4-BE49-F238E27FC236}">
                <a16:creationId xmlns:a16="http://schemas.microsoft.com/office/drawing/2014/main" id="{D306394F-AB32-4C00-B755-4BB3358B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6724650"/>
            <a:ext cx="2619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목표 도달 시 이메일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리포트에서 구매 링크</a:t>
            </a:r>
          </a:p>
        </p:txBody>
      </p:sp>
      <p:sp>
        <p:nvSpPr>
          <p:cNvPr id="50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46474AB2-E068-4FED-A37C-25700EE8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57200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1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5AB6417D-0A10-459A-80E4-31651A3D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381625"/>
            <a:ext cx="260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2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8DFCFC54-65AD-4CDE-ADE4-E8FACD7C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381625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3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CCF96274-914B-43CF-BE07-B3DFE9CC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886450"/>
            <a:ext cx="17145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878"/>
          </a:solidFill>
          <a:ln xmlns:a="http://schemas.openxmlformats.org/drawingml/2006/main" w="0">
            <a:solidFill>
              <a:srgbClr val="176878"/>
            </a:solidFill>
          </a:ln>
        </p:spPr>
      </p:sp>
      <p:sp>
        <p:nvSpPr>
          <p:cNvPr id="54" name="확정 후 선택하는 가격 알림">
            <a:extLst xmlns:a="http://schemas.openxmlformats.org/drawingml/2006/main">
              <a:ext uri="{FF2B5EF4-FFF2-40B4-BE49-F238E27FC236}">
                <a16:creationId xmlns:a16="http://schemas.microsoft.com/office/drawing/2014/main" id="{72C5849C-8A2A-499C-9D52-58ABCA6D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196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확정 후 선택하는 가격 알림</a:t>
            </a:r>
          </a:p>
        </p:txBody>
      </p:sp>
      <p:cxnSp>
        <p:nvCxnSpPr>
          <p:cNvPr id="119" name=""/>
          <p:cNvCxnSpPr>
            <a:stCxn xmlns:a="http://schemas.openxmlformats.org/drawingml/2006/main" id="41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10525125" y="6810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cxnSp>
        <p:nvCxnSpPr>
          <p:cNvPr id="120" name=""/>
          <p:cNvCxnSpPr>
            <a:stCxn xmlns:a="http://schemas.openxmlformats.org/drawingml/2006/main" id="44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049375" y="6810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sp>
        <p:nvSpPr>
          <p:cNvPr id="57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1B360357-4B07-4F5C-B1A3-B811342B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8675" y="5476875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8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330A7081-CF2A-4421-AAEC-4D5D0DBF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5476875"/>
            <a:ext cx="1971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9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7642D24B-672E-47EC-9C8C-4C31DD05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572000"/>
            <a:ext cx="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60" name="리포트로 돌아가기">
            <a:extLst xmlns:a="http://schemas.openxmlformats.org/drawingml/2006/main">
              <a:ext uri="{FF2B5EF4-FFF2-40B4-BE49-F238E27FC236}">
                <a16:creationId xmlns:a16="http://schemas.microsoft.com/office/drawing/2014/main" id="{CF28A093-AB45-4E3E-A431-E89620E3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4533900"/>
            <a:ext cx="171450" cy="171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76878"/>
          </a:solidFill>
          <a:ln xmlns:a="http://schemas.openxmlformats.org/drawingml/2006/main" w="0">
            <a:noFill/>
          </a:ln>
        </p:spPr>
      </p:sp>
      <p:sp>
        <p:nvSpPr>
          <p:cNvPr id="61" name="알림에서 리포트 열기">
            <a:extLst xmlns:a="http://schemas.openxmlformats.org/drawingml/2006/main">
              <a:ext uri="{FF2B5EF4-FFF2-40B4-BE49-F238E27FC236}">
                <a16:creationId xmlns:a16="http://schemas.microsoft.com/office/drawing/2014/main" id="{1CC203E3-4758-4B07-9289-6DDE14F0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5524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알림에서 리포트 열기</a:t>
            </a:r>
          </a:p>
        </p:txBody>
      </p:sp>
      <p:sp>
        <p:nvSpPr>
          <p:cNvPr id="62" name="사용자가 언제든 다시 조정">
            <a:extLst xmlns:a="http://schemas.openxmlformats.org/drawingml/2006/main">
              <a:ext uri="{FF2B5EF4-FFF2-40B4-BE49-F238E27FC236}">
                <a16:creationId xmlns:a16="http://schemas.microsoft.com/office/drawing/2014/main" id="{5244214E-7532-44B4-9B90-35D7EE91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595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사용자가 언제든 다시 조정</a:t>
            </a:r>
          </a:p>
        </p:txBody>
      </p:sp>
      <p:sp>
        <p:nvSpPr>
          <p:cNvPr id="63" name="확정본을 수정하면 새 초안을 만듭니다.&#10;기존 구성과 근거는 보존하고,&#10;재확정한 구성에 가격 추적을 연결합니다.">
            <a:extLst xmlns:a="http://schemas.openxmlformats.org/drawingml/2006/main">
              <a:ext uri="{FF2B5EF4-FFF2-40B4-BE49-F238E27FC236}">
                <a16:creationId xmlns:a16="http://schemas.microsoft.com/office/drawing/2014/main" id="{083A77B3-9176-4E32-B5F1-E442CF70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43700"/>
            <a:ext cx="5905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확정본을 수정하면 새 초안을 만듭니다.</a:t>
            </a:r>
          </a:p>
          <a:p xmlns:a="http://schemas.openxmlformats.org/drawingml/2006/main">
            <a:pPr algn="l">
              <a:defRPr sz="202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기존 구성과 근거는 보존하고,</a:t>
            </a:r>
          </a:p>
          <a:p xmlns:a="http://schemas.openxmlformats.org/drawingml/2006/main">
            <a:pPr algn="l">
              <a:defRPr sz="202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재확정한 구성에 가격 추적을 연결합니다.</a:t>
            </a:r>
          </a:p>
        </p:txBody>
      </p:sp>
      <p:sp>
        <p:nvSpPr>
          <p:cNvPr id="64" name="대화 1건 = 리스트 1건     /     화면은 대화·추천 결과·물품 리스트를 함께 보여줍니다.">
            <a:extLst xmlns:a="http://schemas.openxmlformats.org/drawingml/2006/main">
              <a:ext uri="{FF2B5EF4-FFF2-40B4-BE49-F238E27FC236}">
                <a16:creationId xmlns:a16="http://schemas.microsoft.com/office/drawing/2014/main" id="{9B73878F-5E3A-4F68-BB9B-243CD306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24875"/>
            <a:ext cx="1676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대화 1건 = 리스트 1건     /     화면은 대화·추천 결과·물품 리스트를 함께 보여줍니다.</a:t>
            </a:r>
          </a:p>
        </p:txBody>
      </p:sp>
    </p:spTree>
    <p:extLst>
      <p:ext uri="{BB962C8B-B14F-4D97-AF65-F5344CB8AC3E}">
        <p14:creationId xmlns:p14="http://schemas.microsoft.com/office/powerpoint/2010/main" val="17494752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추천 엔진의 판단 흐름">
            <a:extLst xmlns:a="http://schemas.openxmlformats.org/drawingml/2006/main">
              <a:ext uri="{FF2B5EF4-FFF2-40B4-BE49-F238E27FC236}">
                <a16:creationId xmlns:a16="http://schemas.microsoft.com/office/drawing/2014/main" id="{8359F090-2995-4D51-8CEC-CF026858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666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추천 엔진의 판단 흐름</a:t>
            </a:r>
          </a:p>
        </p:txBody>
      </p:sp>
      <p:sp>
        <p:nvSpPr>
          <p:cNvPr id="2" name="PC는 완성된 부품 조합을 검증하고, 유아용품은 품목별 검증을 마친 뒤 예산을 배분합니다.">
            <a:extLst xmlns:a="http://schemas.openxmlformats.org/drawingml/2006/main">
              <a:ext uri="{FF2B5EF4-FFF2-40B4-BE49-F238E27FC236}">
                <a16:creationId xmlns:a16="http://schemas.microsoft.com/office/drawing/2014/main" id="{3324EB4F-3FF5-4197-A398-6B1D4414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695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PC는 완성된 부품 조합을 검증하고, 유아용품은 품목별 검증을 마친 뒤 예산을 배분합니다.</a:t>
            </a:r>
          </a:p>
        </p:txBody>
      </p:sp>
      <p:sp>
        <p:nvSpPr>
          <p:cNvPr id="3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AACEE5A5-EAB8-495B-846B-E0E1DE0F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0"/>
            <a:ext cx="1714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3E9"/>
            </a:solidFill>
            <a:prstDash val="solid"/>
          </a:ln>
        </p:spPr>
      </p:sp>
      <p:sp>
        <p:nvSpPr>
          <p:cNvPr id="4" name="TrueFit  ·  전체 서비스 기획">
            <a:extLst xmlns:a="http://schemas.openxmlformats.org/drawingml/2006/main">
              <a:ext uri="{FF2B5EF4-FFF2-40B4-BE49-F238E27FC236}">
                <a16:creationId xmlns:a16="http://schemas.microsoft.com/office/drawing/2014/main" id="{4911C9AB-DEFC-4247-9BD9-5A7B6BC4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0"/>
            <a:ext cx="1619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TrueFit  ·  전체 서비스 기획</a:t>
            </a:r>
          </a:p>
        </p:txBody>
      </p:sp>
      <p:sp>
        <p:nvSpPr>
          <p:cNvPr id="5" name="2 / 3">
            <a:extLst xmlns:a="http://schemas.openxmlformats.org/drawingml/2006/main">
              <a:ext uri="{FF2B5EF4-FFF2-40B4-BE49-F238E27FC236}">
                <a16:creationId xmlns:a16="http://schemas.microsoft.com/office/drawing/2014/main" id="{576BFE0C-42E8-46A5-953B-BCB6C1FF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7155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2 / 3</a:t>
            </a:r>
          </a:p>
        </p:txBody>
      </p:sp>
      <p:sp>
        <p:nvSpPr>
          <p:cNvPr id="6" name="조건 정리">
            <a:extLst xmlns:a="http://schemas.openxmlformats.org/drawingml/2006/main">
              <a:ext uri="{FF2B5EF4-FFF2-40B4-BE49-F238E27FC236}">
                <a16:creationId xmlns:a16="http://schemas.microsoft.com/office/drawing/2014/main" id="{6012C502-C85C-4295-8527-74E02526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429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7" name="조건 정리">
            <a:extLst xmlns:a="http://schemas.openxmlformats.org/drawingml/2006/main">
              <a:ext uri="{FF2B5EF4-FFF2-40B4-BE49-F238E27FC236}">
                <a16:creationId xmlns:a16="http://schemas.microsoft.com/office/drawing/2014/main" id="{D6B0401E-0A39-4A67-AEC9-B693EF58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조건 정리</a:t>
            </a:r>
          </a:p>
        </p:txBody>
      </p:sp>
      <p:sp>
        <p:nvSpPr>
          <p:cNvPr id="8" name="명시 입력·추정·누락 구분">
            <a:extLst xmlns:a="http://schemas.openxmlformats.org/drawingml/2006/main">
              <a:ext uri="{FF2B5EF4-FFF2-40B4-BE49-F238E27FC236}">
                <a16:creationId xmlns:a16="http://schemas.microsoft.com/office/drawing/2014/main" id="{8FAB5AF1-0BAD-4274-BAC4-66414732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304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명시 입력·추정·누락 구분</a:t>
            </a:r>
          </a:p>
        </p:txBody>
      </p:sp>
      <p:sp>
        <p:nvSpPr>
          <p:cNvPr id="9" name="요구사항 변환">
            <a:extLst xmlns:a="http://schemas.openxmlformats.org/drawingml/2006/main">
              <a:ext uri="{FF2B5EF4-FFF2-40B4-BE49-F238E27FC236}">
                <a16:creationId xmlns:a16="http://schemas.microsoft.com/office/drawing/2014/main" id="{47E7F455-0061-455A-8270-B2113947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3429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10" name="요구사항 변환">
            <a:extLst xmlns:a="http://schemas.openxmlformats.org/drawingml/2006/main">
              <a:ext uri="{FF2B5EF4-FFF2-40B4-BE49-F238E27FC236}">
                <a16:creationId xmlns:a16="http://schemas.microsoft.com/office/drawing/2014/main" id="{1C5D943B-5FD1-4ECB-9AFB-39751E15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요구사항 변환</a:t>
            </a:r>
          </a:p>
        </p:txBody>
      </p:sp>
      <p:sp>
        <p:nvSpPr>
          <p:cNvPr id="11" name="필수 슬롯·수량·제약 정의">
            <a:extLst xmlns:a="http://schemas.openxmlformats.org/drawingml/2006/main">
              <a:ext uri="{FF2B5EF4-FFF2-40B4-BE49-F238E27FC236}">
                <a16:creationId xmlns:a16="http://schemas.microsoft.com/office/drawing/2014/main" id="{7681BA27-38C2-46D1-9229-EDEEC99A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304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필수 슬롯·수량·제약 정의</a:t>
            </a:r>
          </a:p>
        </p:txBody>
      </p:sp>
      <p:sp>
        <p:nvSpPr>
          <p:cNvPr id="12" name="후보 수집·필터">
            <a:extLst xmlns:a="http://schemas.openxmlformats.org/drawingml/2006/main">
              <a:ext uri="{FF2B5EF4-FFF2-40B4-BE49-F238E27FC236}">
                <a16:creationId xmlns:a16="http://schemas.microsoft.com/office/drawing/2014/main" id="{9E9F3333-07BB-4B82-B082-3567B178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3429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13" name="후보 수집·필터">
            <a:extLst xmlns:a="http://schemas.openxmlformats.org/drawingml/2006/main">
              <a:ext uri="{FF2B5EF4-FFF2-40B4-BE49-F238E27FC236}">
                <a16:creationId xmlns:a16="http://schemas.microsoft.com/office/drawing/2014/main" id="{9D26960C-F67F-4D6F-9F31-5DE45EA1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후보 수집·필터</a:t>
            </a:r>
          </a:p>
        </p:txBody>
      </p:sp>
      <p:sp>
        <p:nvSpPr>
          <p:cNvPr id="14" name="상품 규격·가격·재고 확인">
            <a:extLst xmlns:a="http://schemas.openxmlformats.org/drawingml/2006/main">
              <a:ext uri="{FF2B5EF4-FFF2-40B4-BE49-F238E27FC236}">
                <a16:creationId xmlns:a16="http://schemas.microsoft.com/office/drawing/2014/main" id="{64F100C9-5CB3-4AB4-85BA-2BF18300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304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상품 규격·가격·재고 확인</a:t>
            </a:r>
          </a:p>
        </p:txBody>
      </p:sp>
      <p:sp>
        <p:nvSpPr>
          <p:cNvPr id="15" name="적합도 순위">
            <a:extLst xmlns:a="http://schemas.openxmlformats.org/drawingml/2006/main">
              <a:ext uri="{FF2B5EF4-FFF2-40B4-BE49-F238E27FC236}">
                <a16:creationId xmlns:a16="http://schemas.microsoft.com/office/drawing/2014/main" id="{51614118-8177-487B-AE37-C8A1A9D8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000250"/>
            <a:ext cx="3429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16" name="적합도 순위">
            <a:extLst xmlns:a="http://schemas.openxmlformats.org/drawingml/2006/main">
              <a:ext uri="{FF2B5EF4-FFF2-40B4-BE49-F238E27FC236}">
                <a16:creationId xmlns:a16="http://schemas.microsoft.com/office/drawing/2014/main" id="{19874C01-9B92-49F3-801A-A2802BC8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190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적합도 순위</a:t>
            </a:r>
          </a:p>
        </p:txBody>
      </p:sp>
      <p:sp>
        <p:nvSpPr>
          <p:cNvPr id="17" name="가격·성능·리뷰·밸런스">
            <a:extLst xmlns:a="http://schemas.openxmlformats.org/drawingml/2006/main">
              <a:ext uri="{FF2B5EF4-FFF2-40B4-BE49-F238E27FC236}">
                <a16:creationId xmlns:a16="http://schemas.microsoft.com/office/drawing/2014/main" id="{AEAC80D1-7FCD-41E6-98C5-2D9ADDDF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724150"/>
            <a:ext cx="304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가격·성능·리뷰·밸런스</a:t>
            </a:r>
          </a:p>
        </p:txBody>
      </p:sp>
      <p:cxnSp>
        <p:nvCxnSpPr>
          <p:cNvPr id="8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00500" y="26670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cxnSp>
        <p:nvCxnSpPr>
          <p:cNvPr id="8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477250" y="26670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2954000" y="26670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sp>
        <p:nvSpPr>
          <p:cNvPr id="21" name="PC 본체 조립">
            <a:extLst xmlns:a="http://schemas.openxmlformats.org/drawingml/2006/main">
              <a:ext uri="{FF2B5EF4-FFF2-40B4-BE49-F238E27FC236}">
                <a16:creationId xmlns:a16="http://schemas.microsoft.com/office/drawing/2014/main" id="{C48B5A3F-0665-48CA-ABD0-1B71B942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PC 본체 조립</a:t>
            </a:r>
          </a:p>
        </p:txBody>
      </p:sp>
      <p:sp>
        <p:nvSpPr>
          <p:cNvPr id="22" name="신규 구성 또는&#10;보유 구성 업그레이드">
            <a:extLst xmlns:a="http://schemas.openxmlformats.org/drawingml/2006/main">
              <a:ext uri="{FF2B5EF4-FFF2-40B4-BE49-F238E27FC236}">
                <a16:creationId xmlns:a16="http://schemas.microsoft.com/office/drawing/2014/main" id="{15AC54B2-8CED-45DF-9FAD-F59E2C02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신규 구성 또는</a:t>
            </a:r>
          </a:p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보유 구성 업그레이드</a:t>
            </a:r>
          </a:p>
        </p:txBody>
      </p:sp>
      <p:sp>
        <p:nvSpPr>
          <p:cNvPr id="23" name="세트 최적화">
            <a:extLst xmlns:a="http://schemas.openxmlformats.org/drawingml/2006/main">
              <a:ext uri="{FF2B5EF4-FFF2-40B4-BE49-F238E27FC236}">
                <a16:creationId xmlns:a16="http://schemas.microsoft.com/office/drawing/2014/main" id="{81C772BD-1784-478C-89F6-5E3F36D3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00500"/>
            <a:ext cx="32861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24" name="세트 최적화">
            <a:extLst xmlns:a="http://schemas.openxmlformats.org/drawingml/2006/main">
              <a:ext uri="{FF2B5EF4-FFF2-40B4-BE49-F238E27FC236}">
                <a16:creationId xmlns:a16="http://schemas.microsoft.com/office/drawing/2014/main" id="{3CAC5EC4-AC76-4DC2-A046-C8D0B5D9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9100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세트 최적화</a:t>
            </a:r>
          </a:p>
        </p:txBody>
      </p:sp>
      <p:sp>
        <p:nvSpPr>
          <p:cNvPr id="25" name="부품 조합·예산 조정&#10;소켓·전력·공간 제약">
            <a:extLst xmlns:a="http://schemas.openxmlformats.org/drawingml/2006/main">
              <a:ext uri="{FF2B5EF4-FFF2-40B4-BE49-F238E27FC236}">
                <a16:creationId xmlns:a16="http://schemas.microsoft.com/office/drawing/2014/main" id="{27716A4E-87A9-4B1F-82F6-8AB86231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24400"/>
            <a:ext cx="2905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부품 조합·예산 조정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소켓·전력·공간 제약</a:t>
            </a:r>
          </a:p>
        </p:txBody>
      </p:sp>
      <p:sp>
        <p:nvSpPr>
          <p:cNvPr id="26" name="전체 조합 검증">
            <a:extLst xmlns:a="http://schemas.openxmlformats.org/drawingml/2006/main">
              <a:ext uri="{FF2B5EF4-FFF2-40B4-BE49-F238E27FC236}">
                <a16:creationId xmlns:a16="http://schemas.microsoft.com/office/drawing/2014/main" id="{4640BCAD-8FF8-4B11-9B2D-94A7E0FA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27" name="전체 조합 검증">
            <a:extLst xmlns:a="http://schemas.openxmlformats.org/drawingml/2006/main">
              <a:ext uri="{FF2B5EF4-FFF2-40B4-BE49-F238E27FC236}">
                <a16:creationId xmlns:a16="http://schemas.microsoft.com/office/drawing/2014/main" id="{B66AED6E-A69C-48F4-AC5E-838F2B0E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전체 조합 검증</a:t>
            </a:r>
          </a:p>
        </p:txBody>
      </p:sp>
      <p:sp>
        <p:nvSpPr>
          <p:cNvPr id="28" name="도구 관측값 + 자료 근거&#10;충돌·병목·미확인 확인">
            <a:extLst xmlns:a="http://schemas.openxmlformats.org/drawingml/2006/main">
              <a:ext uri="{FF2B5EF4-FFF2-40B4-BE49-F238E27FC236}">
                <a16:creationId xmlns:a16="http://schemas.microsoft.com/office/drawing/2014/main" id="{C4010E8E-3D95-45DB-AF75-912D7BFB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24400"/>
            <a:ext cx="304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도구 관측값 + 자료 근거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충돌·병목·미확인 확인</a:t>
            </a:r>
          </a:p>
        </p:txBody>
      </p:sp>
      <p:cxnSp>
        <p:nvCxnSpPr>
          <p:cNvPr id="92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572250" y="4762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sp>
        <p:nvSpPr>
          <p:cNvPr id="30" name="유아용품 준비">
            <a:extLst xmlns:a="http://schemas.openxmlformats.org/drawingml/2006/main">
              <a:ext uri="{FF2B5EF4-FFF2-40B4-BE49-F238E27FC236}">
                <a16:creationId xmlns:a16="http://schemas.microsoft.com/office/drawing/2014/main" id="{EA006B49-636D-4DA6-B096-3CE4CAAE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246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유아용품 준비</a:t>
            </a:r>
          </a:p>
        </p:txBody>
      </p:sp>
      <p:sp>
        <p:nvSpPr>
          <p:cNvPr id="31" name="월령·발달 조건&#10;보유품·필요 시점">
            <a:extLst xmlns:a="http://schemas.openxmlformats.org/drawingml/2006/main">
              <a:ext uri="{FF2B5EF4-FFF2-40B4-BE49-F238E27FC236}">
                <a16:creationId xmlns:a16="http://schemas.microsoft.com/office/drawing/2014/main" id="{E478110D-FFB0-48B6-9E6D-203B0F0F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월령·발달 조건</a:t>
            </a:r>
          </a:p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보유품·필요 시점</a:t>
            </a:r>
          </a:p>
        </p:txBody>
      </p:sp>
      <p:sp>
        <p:nvSpPr>
          <p:cNvPr id="32" name="품목별 근거 검증">
            <a:extLst xmlns:a="http://schemas.openxmlformats.org/drawingml/2006/main">
              <a:ext uri="{FF2B5EF4-FFF2-40B4-BE49-F238E27FC236}">
                <a16:creationId xmlns:a16="http://schemas.microsoft.com/office/drawing/2014/main" id="{7A419BA1-A55A-462F-88CB-CCDB5FDD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667500"/>
            <a:ext cx="32861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33" name="품목별 근거 검증">
            <a:extLst xmlns:a="http://schemas.openxmlformats.org/drawingml/2006/main">
              <a:ext uri="{FF2B5EF4-FFF2-40B4-BE49-F238E27FC236}">
                <a16:creationId xmlns:a16="http://schemas.microsoft.com/office/drawing/2014/main" id="{04EA5357-A60F-47D3-9D02-7CC6A27D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85800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품목별 근거 검증</a:t>
            </a:r>
          </a:p>
        </p:txBody>
      </p:sp>
      <p:sp>
        <p:nvSpPr>
          <p:cNvPr id="34" name="월령·사용 조건&#10;인증·리콜·위험 확인">
            <a:extLst xmlns:a="http://schemas.openxmlformats.org/drawingml/2006/main">
              <a:ext uri="{FF2B5EF4-FFF2-40B4-BE49-F238E27FC236}">
                <a16:creationId xmlns:a16="http://schemas.microsoft.com/office/drawing/2014/main" id="{975EB675-1A3C-4B6B-AB43-92C55B9D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391400"/>
            <a:ext cx="2905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월령·사용 조건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인증·리콜·위험 확인</a:t>
            </a:r>
          </a:p>
        </p:txBody>
      </p:sp>
      <p:sp>
        <p:nvSpPr>
          <p:cNvPr id="35" name="시점별 예산 배분">
            <a:extLst xmlns:a="http://schemas.openxmlformats.org/drawingml/2006/main">
              <a:ext uri="{FF2B5EF4-FFF2-40B4-BE49-F238E27FC236}">
                <a16:creationId xmlns:a16="http://schemas.microsoft.com/office/drawing/2014/main" id="{353EDFF5-2F84-4977-8DCD-A1B50324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66750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36" name="시점별 예산 배분">
            <a:extLst xmlns:a="http://schemas.openxmlformats.org/drawingml/2006/main">
              <a:ext uri="{FF2B5EF4-FFF2-40B4-BE49-F238E27FC236}">
                <a16:creationId xmlns:a16="http://schemas.microsoft.com/office/drawing/2014/main" id="{0BDB092B-B068-4EE0-9057-CC646828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8580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시점별 예산 배분</a:t>
            </a:r>
          </a:p>
        </p:txBody>
      </p:sp>
      <p:sp>
        <p:nvSpPr>
          <p:cNvPr id="37" name="지금 / 곧 / 나중&#10;보유 충족·필수품 우선">
            <a:extLst xmlns:a="http://schemas.openxmlformats.org/drawingml/2006/main">
              <a:ext uri="{FF2B5EF4-FFF2-40B4-BE49-F238E27FC236}">
                <a16:creationId xmlns:a16="http://schemas.microsoft.com/office/drawing/2014/main" id="{DA0536AC-4A7D-467C-8CB5-64BC6CAD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391400"/>
            <a:ext cx="304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지금 / 곧 / 나중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보유 충족·필수품 우선</a:t>
            </a:r>
          </a:p>
        </p:txBody>
      </p:sp>
      <p:cxnSp>
        <p:nvCxnSpPr>
          <p:cNvPr id="101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6572250" y="7429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sp>
        <p:nvSpPr>
          <p:cNvPr id="39" name="추천 결과·근거 설명">
            <a:extLst xmlns:a="http://schemas.openxmlformats.org/drawingml/2006/main">
              <a:ext uri="{FF2B5EF4-FFF2-40B4-BE49-F238E27FC236}">
                <a16:creationId xmlns:a16="http://schemas.microsoft.com/office/drawing/2014/main" id="{3D630AF9-EB33-46A7-ADA9-D2ED30F2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5381625"/>
            <a:ext cx="3810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40" name="추천 결과·근거 설명">
            <a:extLst xmlns:a="http://schemas.openxmlformats.org/drawingml/2006/main">
              <a:ext uri="{FF2B5EF4-FFF2-40B4-BE49-F238E27FC236}">
                <a16:creationId xmlns:a16="http://schemas.microsoft.com/office/drawing/2014/main" id="{90AD0618-1EF5-4631-8FB8-82477D2C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5721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추천 결과·근거 설명</a:t>
            </a:r>
          </a:p>
        </p:txBody>
      </p:sp>
      <p:sp>
        <p:nvSpPr>
          <p:cNvPr id="41" name="선택 이유·계산 기여도&#10;대안·주의사항·인용 출처&#10;사용자가 비교 후 선택">
            <a:extLst xmlns:a="http://schemas.openxmlformats.org/drawingml/2006/main">
              <a:ext uri="{FF2B5EF4-FFF2-40B4-BE49-F238E27FC236}">
                <a16:creationId xmlns:a16="http://schemas.microsoft.com/office/drawing/2014/main" id="{E3095D76-2175-43F3-8936-0C0AC188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6105525"/>
            <a:ext cx="342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선택 이유·계산 기여도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대안·주의사항·인용 출처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사용자가 비교 후 선택</a:t>
            </a:r>
          </a:p>
        </p:txBody>
      </p:sp>
      <p:sp>
        <p:nvSpPr>
          <p:cNvPr id="42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901EEB35-DABF-45C6-840F-F52347D8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3337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8B6"/>
            </a:solidFill>
            <a:prstDash val="solid"/>
          </a:ln>
        </p:spPr>
      </p:sp>
      <p:sp>
        <p:nvSpPr>
          <p:cNvPr id="43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94C1CBD2-CC80-44F8-A67B-24CF6CB1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38550"/>
            <a:ext cx="1281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8B6"/>
            </a:solidFill>
            <a:prstDash val="solid"/>
          </a:ln>
        </p:spPr>
      </p:sp>
      <p:sp>
        <p:nvSpPr>
          <p:cNvPr id="44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A07A33CE-D51B-4B56-B820-3B9F8748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38550"/>
            <a:ext cx="0" cy="3790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8B6"/>
            </a:solidFill>
            <a:prstDash val="solid"/>
          </a:ln>
        </p:spPr>
      </p:sp>
      <p:sp>
        <p:nvSpPr>
          <p:cNvPr id="45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D9B44B74-DB80-4230-966C-45252222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7625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8B6"/>
            </a:solidFill>
            <a:prstDash val="solid"/>
          </a:ln>
        </p:spPr>
      </p:sp>
      <p:sp>
        <p:nvSpPr>
          <p:cNvPr id="46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1B036F5F-863C-469B-BB42-39C52F64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6767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1A8B6"/>
          </a:solidFill>
          <a:ln xmlns:a="http://schemas.openxmlformats.org/drawingml/2006/main" w="0">
            <a:solidFill>
              <a:srgbClr val="91A8B6"/>
            </a:solidFill>
          </a:ln>
        </p:spPr>
      </p:sp>
      <p:sp>
        <p:nvSpPr>
          <p:cNvPr id="47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7EBA0F48-8F48-44B9-8B76-B01C77AC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74295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8B6"/>
            </a:solidFill>
            <a:prstDash val="solid"/>
          </a:ln>
        </p:spPr>
      </p:sp>
      <p:sp>
        <p:nvSpPr>
          <p:cNvPr id="48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90AF4945-4E3F-4BF9-B9C7-682D3480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73437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1A8B6"/>
          </a:solidFill>
          <a:ln xmlns:a="http://schemas.openxmlformats.org/drawingml/2006/main" w="0">
            <a:solidFill>
              <a:srgbClr val="91A8B6"/>
            </a:solidFill>
          </a:ln>
        </p:spPr>
      </p:sp>
      <p:cxnSp>
        <p:nvCxnSpPr>
          <p:cNvPr id="112" name=""/>
          <p:cNvCxnSpPr>
            <a:stCxn xmlns:a="http://schemas.openxmlformats.org/drawingml/2006/main" id="26" idx="3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10858500" y="4762500"/>
            <a:ext cx="4667250" cy="619125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cxnSp>
        <p:nvCxnSpPr>
          <p:cNvPr id="113" name=""/>
          <p:cNvCxnSpPr>
            <a:stCxn xmlns:a="http://schemas.openxmlformats.org/drawingml/2006/main" id="35" idx="3"/>
            <a:endCxn xmlns:a="http://schemas.openxmlformats.org/drawingml/2006/main" id="39" idx="2"/>
          </p:cNvCxnSpPr>
          <p:nvPr/>
        </p:nvCxnSpPr>
        <p:spPr>
          <a:xfrm xmlns:a="http://schemas.openxmlformats.org/drawingml/2006/main" flipV="1">
            <a:off x="10858500" y="7143750"/>
            <a:ext cx="4667250" cy="285750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sp>
        <p:nvSpPr>
          <p:cNvPr id="51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2C182927-4E98-4396-816C-477C8C5B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2450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2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81326D9B-AF61-4F72-BE28-5DE07706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943600"/>
            <a:ext cx="421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3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2652E69D-F701-4499-AFE5-8257669E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52450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4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F8E6B398-75C6-4C4A-8CB5-07E8222E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67350"/>
            <a:ext cx="171450" cy="171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76878"/>
          </a:solidFill>
          <a:ln xmlns:a="http://schemas.openxmlformats.org/drawingml/2006/main" w="0">
            <a:solidFill>
              <a:srgbClr val="176878"/>
            </a:solidFill>
          </a:ln>
        </p:spPr>
      </p:sp>
      <p:sp>
        <p:nvSpPr>
          <p:cNvPr id="55" name="기준 미달: 후보를 바꿔 재구성·재검증">
            <a:extLst xmlns:a="http://schemas.openxmlformats.org/drawingml/2006/main">
              <a:ext uri="{FF2B5EF4-FFF2-40B4-BE49-F238E27FC236}">
                <a16:creationId xmlns:a16="http://schemas.microsoft.com/office/drawing/2014/main" id="{AD0729D1-D2A8-4CC3-A454-DBD3CA56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198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기준 미달: 후보를 바꿔 재구성·재검증</a:t>
            </a:r>
          </a:p>
        </p:txBody>
      </p:sp>
      <p:sp>
        <p:nvSpPr>
          <p:cNvPr id="56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A7A2E09D-6B42-49D8-B168-1E8468B2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819150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7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A757CFBF-49FF-46CC-950D-CFCA19AF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8715375"/>
            <a:ext cx="2162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8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16531E9E-FD51-45FA-80E9-4387809A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91250"/>
            <a:ext cx="0" cy="2524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9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82FA59EC-5DFF-4D21-BFB8-D8E74F61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912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60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6E86DF4F-0F05-45C7-864A-EC184CF9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1912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61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0853EDF4-FB7F-4A40-BEE7-DF8FD11D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34150"/>
            <a:ext cx="17145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878"/>
          </a:solidFill>
          <a:ln xmlns:a="http://schemas.openxmlformats.org/drawingml/2006/main" w="0">
            <a:solidFill>
              <a:srgbClr val="176878"/>
            </a:solidFill>
          </a:ln>
        </p:spPr>
      </p:sp>
      <p:sp>
        <p:nvSpPr>
          <p:cNvPr id="62" name="품목 기준 미달: 다음 후보로 재검증">
            <a:extLst xmlns:a="http://schemas.openxmlformats.org/drawingml/2006/main">
              <a:ext uri="{FF2B5EF4-FFF2-40B4-BE49-F238E27FC236}">
                <a16:creationId xmlns:a16="http://schemas.microsoft.com/office/drawing/2014/main" id="{F8A91BBE-BFFD-4E7E-A813-078C042C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84867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품목 기준 미달: 다음 후보로 재검증</a:t>
            </a:r>
          </a:p>
        </p:txBody>
      </p:sp>
      <p:sp>
        <p:nvSpPr>
          <p:cNvPr id="63" name="근거가 없으면 미확인으로 표시합니다.&#10;재탐색 한도 후에도 남는 위험은 드러냅니다.">
            <a:extLst xmlns:a="http://schemas.openxmlformats.org/drawingml/2006/main">
              <a:ext uri="{FF2B5EF4-FFF2-40B4-BE49-F238E27FC236}">
                <a16:creationId xmlns:a16="http://schemas.microsoft.com/office/drawing/2014/main" id="{D23A8E79-FAE7-48BB-A15B-11A1A010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8001000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근거가 없으면 미확인으로 표시합니다.</a:t>
            </a:r>
          </a:p>
          <a:p xmlns:a="http://schemas.openxmlformats.org/drawingml/2006/main">
            <a:pPr algn="l">
              <a:defRPr sz="187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재탐색 한도 후에도 남는 위험은 드러냅니다.</a:t>
            </a:r>
          </a:p>
        </p:txBody>
      </p:sp>
    </p:spTree>
    <p:extLst>
      <p:ext uri="{BB962C8B-B14F-4D97-AF65-F5344CB8AC3E}">
        <p14:creationId xmlns:p14="http://schemas.microsoft.com/office/powerpoint/2010/main" val="1568580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근거와 피드백이 추천에 반영되는 흐름">
            <a:extLst xmlns:a="http://schemas.openxmlformats.org/drawingml/2006/main">
              <a:ext uri="{FF2B5EF4-FFF2-40B4-BE49-F238E27FC236}">
                <a16:creationId xmlns:a16="http://schemas.microsoft.com/office/drawing/2014/main" id="{3D33939D-7F01-4694-8116-133F2931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666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근거와 피드백이 추천에 반영되는 흐름</a:t>
            </a:r>
          </a:p>
        </p:txBody>
      </p:sp>
      <p:sp>
        <p:nvSpPr>
          <p:cNvPr id="2" name="자료 검색과 리뷰 분석은 추천을 뒷받침하고, 사용 이후의 피드백은 검토를 거쳐 다음 추천을 개선합니다.">
            <a:extLst xmlns:a="http://schemas.openxmlformats.org/drawingml/2006/main">
              <a:ext uri="{FF2B5EF4-FFF2-40B4-BE49-F238E27FC236}">
                <a16:creationId xmlns:a16="http://schemas.microsoft.com/office/drawing/2014/main" id="{634658B7-1F75-4777-BCEB-43073D13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695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자료 검색과 리뷰 분석은 추천을 뒷받침하고, 사용 이후의 피드백은 검토를 거쳐 다음 추천을 개선합니다.</a:t>
            </a:r>
          </a:p>
        </p:txBody>
      </p:sp>
      <p:sp>
        <p:nvSpPr>
          <p:cNvPr id="3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8FBE1906-C6BB-42E3-97FA-9B3B7A70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0"/>
            <a:ext cx="1714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3E9"/>
            </a:solidFill>
            <a:prstDash val="solid"/>
          </a:ln>
        </p:spPr>
      </p:sp>
      <p:sp>
        <p:nvSpPr>
          <p:cNvPr id="4" name="TrueFit  ·  전체 서비스 기획">
            <a:extLst xmlns:a="http://schemas.openxmlformats.org/drawingml/2006/main">
              <a:ext uri="{FF2B5EF4-FFF2-40B4-BE49-F238E27FC236}">
                <a16:creationId xmlns:a16="http://schemas.microsoft.com/office/drawing/2014/main" id="{21DE264A-8519-4642-827C-BBAE609E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0"/>
            <a:ext cx="1619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TrueFit  ·  전체 서비스 기획</a:t>
            </a:r>
          </a:p>
        </p:txBody>
      </p:sp>
      <p:sp>
        <p:nvSpPr>
          <p:cNvPr id="5" name="3 / 3">
            <a:extLst xmlns:a="http://schemas.openxmlformats.org/drawingml/2006/main">
              <a:ext uri="{FF2B5EF4-FFF2-40B4-BE49-F238E27FC236}">
                <a16:creationId xmlns:a16="http://schemas.microsoft.com/office/drawing/2014/main" id="{34C0C9A1-128E-4661-9B74-5597B451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7155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3 / 3</a:t>
            </a:r>
          </a:p>
        </p:txBody>
      </p:sp>
      <p:sp>
        <p:nvSpPr>
          <p:cNvPr id="6" name="상품 자료">
            <a:extLst xmlns:a="http://schemas.openxmlformats.org/drawingml/2006/main">
              <a:ext uri="{FF2B5EF4-FFF2-40B4-BE49-F238E27FC236}">
                <a16:creationId xmlns:a16="http://schemas.microsoft.com/office/drawing/2014/main" id="{D3A736B8-2FE2-48BF-8822-93C78AF1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상품 자료</a:t>
            </a:r>
          </a:p>
        </p:txBody>
      </p:sp>
      <p:sp>
        <p:nvSpPr>
          <p:cNvPr id="7" name="설명서·사양표&#10;이미지·공식 정보">
            <a:extLst xmlns:a="http://schemas.openxmlformats.org/drawingml/2006/main">
              <a:ext uri="{FF2B5EF4-FFF2-40B4-BE49-F238E27FC236}">
                <a16:creationId xmlns:a16="http://schemas.microsoft.com/office/drawing/2014/main" id="{12E8DBC6-17D2-4993-84D9-2C04E82E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설명서·사양표</a:t>
            </a:r>
          </a:p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이미지·공식 정보</a:t>
            </a:r>
          </a:p>
        </p:txBody>
      </p:sp>
      <p:sp>
        <p:nvSpPr>
          <p:cNvPr id="8" name="자료 수집·권한 확인">
            <a:extLst xmlns:a="http://schemas.openxmlformats.org/drawingml/2006/main">
              <a:ext uri="{FF2B5EF4-FFF2-40B4-BE49-F238E27FC236}">
                <a16:creationId xmlns:a16="http://schemas.microsoft.com/office/drawing/2014/main" id="{E7AA02CE-1735-42D5-881A-EDB8621F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9" name="자료 수집·권한 확인">
            <a:extLst xmlns:a="http://schemas.openxmlformats.org/drawingml/2006/main">
              <a:ext uri="{FF2B5EF4-FFF2-40B4-BE49-F238E27FC236}">
                <a16:creationId xmlns:a16="http://schemas.microsoft.com/office/drawing/2014/main" id="{6F57312C-6335-4AC3-9310-0A9DAB20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자료 수집·권한 확인</a:t>
            </a:r>
          </a:p>
        </p:txBody>
      </p:sp>
      <p:sp>
        <p:nvSpPr>
          <p:cNvPr id="10" name="원본·버전·적용 상품&#10;객체 저장소에 보관">
            <a:extLst xmlns:a="http://schemas.openxmlformats.org/drawingml/2006/main">
              <a:ext uri="{FF2B5EF4-FFF2-40B4-BE49-F238E27FC236}">
                <a16:creationId xmlns:a16="http://schemas.microsoft.com/office/drawing/2014/main" id="{356CD3A9-AAAB-4EF5-832F-533E8AC1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952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원본·버전·적용 상품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객체 저장소에 보관</a:t>
            </a:r>
          </a:p>
        </p:txBody>
      </p:sp>
      <p:sp>
        <p:nvSpPr>
          <p:cNvPr id="11" name="검색 자료 준비">
            <a:extLst xmlns:a="http://schemas.openxmlformats.org/drawingml/2006/main">
              <a:ext uri="{FF2B5EF4-FFF2-40B4-BE49-F238E27FC236}">
                <a16:creationId xmlns:a16="http://schemas.microsoft.com/office/drawing/2014/main" id="{FFC32AE2-4314-48E3-AB2D-CED18C30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9550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12" name="검색 자료 준비">
            <a:extLst xmlns:a="http://schemas.openxmlformats.org/drawingml/2006/main">
              <a:ext uri="{FF2B5EF4-FFF2-40B4-BE49-F238E27FC236}">
                <a16:creationId xmlns:a16="http://schemas.microsoft.com/office/drawing/2014/main" id="{0415157A-6B28-4BDA-81A4-74917F02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860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검색 자료 준비</a:t>
            </a:r>
          </a:p>
        </p:txBody>
      </p:sp>
      <p:sp>
        <p:nvSpPr>
          <p:cNvPr id="13" name="추출·OCR·청크화&#10;임베딩·게시">
            <a:extLst xmlns:a="http://schemas.openxmlformats.org/drawingml/2006/main">
              <a:ext uri="{FF2B5EF4-FFF2-40B4-BE49-F238E27FC236}">
                <a16:creationId xmlns:a16="http://schemas.microsoft.com/office/drawing/2014/main" id="{76474DC0-E7D7-4FA9-9FA3-75AE5F45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19400"/>
            <a:ext cx="2952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추출·OCR·청크화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임베딩·게시</a:t>
            </a:r>
          </a:p>
        </p:txBody>
      </p:sp>
      <p:sp>
        <p:nvSpPr>
          <p:cNvPr id="14" name="근거 검색·인용">
            <a:extLst xmlns:a="http://schemas.openxmlformats.org/drawingml/2006/main">
              <a:ext uri="{FF2B5EF4-FFF2-40B4-BE49-F238E27FC236}">
                <a16:creationId xmlns:a16="http://schemas.microsoft.com/office/drawing/2014/main" id="{547850EE-470E-4E77-AFA6-79497B0B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09550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15" name="근거 검색·인용">
            <a:extLst xmlns:a="http://schemas.openxmlformats.org/drawingml/2006/main">
              <a:ext uri="{FF2B5EF4-FFF2-40B4-BE49-F238E27FC236}">
                <a16:creationId xmlns:a16="http://schemas.microsoft.com/office/drawing/2014/main" id="{C1141A6D-5F80-49A5-B64B-4C1EF8B8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2860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근거 검색·인용</a:t>
            </a:r>
          </a:p>
        </p:txBody>
      </p:sp>
      <p:sp>
        <p:nvSpPr>
          <p:cNvPr id="16" name="상품·조건에 맞게 검색&#10;출처·원문 위치 제시">
            <a:extLst xmlns:a="http://schemas.openxmlformats.org/drawingml/2006/main">
              <a:ext uri="{FF2B5EF4-FFF2-40B4-BE49-F238E27FC236}">
                <a16:creationId xmlns:a16="http://schemas.microsoft.com/office/drawing/2014/main" id="{4AC75E64-AD8A-463B-BE65-F2EC7B85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19400"/>
            <a:ext cx="2952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상품·조건에 맞게 검색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출처·원문 위치 제시</a:t>
            </a:r>
          </a:p>
        </p:txBody>
      </p:sp>
      <p:cxnSp>
        <p:nvCxnSpPr>
          <p:cNvPr id="7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477000" y="28575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0810875" y="28575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sp>
        <p:nvSpPr>
          <p:cNvPr id="19" name="추천 검증과&#10;선택 이유에&#10;함께 사용">
            <a:extLst xmlns:a="http://schemas.openxmlformats.org/drawingml/2006/main">
              <a:ext uri="{FF2B5EF4-FFF2-40B4-BE49-F238E27FC236}">
                <a16:creationId xmlns:a16="http://schemas.microsoft.com/office/drawing/2014/main" id="{F8E2EB6E-637B-44CB-8666-6081E734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352675"/>
            <a:ext cx="2143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추천 검증과</a:t>
            </a:r>
          </a:p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선택 이유에</a:t>
            </a:r>
          </a:p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함께 사용</a:t>
            </a:r>
          </a:p>
        </p:txBody>
      </p:sp>
      <p:sp>
        <p:nvSpPr>
          <p:cNvPr id="20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AE923305-8708-4FDF-9C59-21F285FE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2857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8B6"/>
            </a:solidFill>
            <a:prstDash val="solid"/>
          </a:ln>
        </p:spPr>
      </p:sp>
      <p:sp>
        <p:nvSpPr>
          <p:cNvPr id="21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96C06732-180B-4A88-A3B2-A6AD6580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6675" y="27717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1A8B6"/>
          </a:solidFill>
          <a:ln xmlns:a="http://schemas.openxmlformats.org/drawingml/2006/main" w="0">
            <a:solidFill>
              <a:srgbClr val="91A8B6"/>
            </a:solidFill>
          </a:ln>
        </p:spPr>
      </p:sp>
      <p:sp>
        <p:nvSpPr>
          <p:cNvPr id="22" name="실제 리뷰">
            <a:extLst xmlns:a="http://schemas.openxmlformats.org/drawingml/2006/main">
              <a:ext uri="{FF2B5EF4-FFF2-40B4-BE49-F238E27FC236}">
                <a16:creationId xmlns:a16="http://schemas.microsoft.com/office/drawing/2014/main" id="{3DC1C74C-F9E5-4EE5-BF82-FC40BC41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실제 리뷰</a:t>
            </a:r>
          </a:p>
        </p:txBody>
      </p:sp>
      <p:sp>
        <p:nvSpPr>
          <p:cNvPr id="23" name="외부 리뷰&#10;서비스 작성 리뷰">
            <a:extLst xmlns:a="http://schemas.openxmlformats.org/drawingml/2006/main">
              <a:ext uri="{FF2B5EF4-FFF2-40B4-BE49-F238E27FC236}">
                <a16:creationId xmlns:a16="http://schemas.microsoft.com/office/drawing/2014/main" id="{BDBAB278-ACAF-4EFC-B480-FDBF951C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625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외부 리뷰</a:t>
            </a:r>
          </a:p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서비스 작성 리뷰</a:t>
            </a:r>
          </a:p>
        </p:txBody>
      </p:sp>
      <p:sp>
        <p:nvSpPr>
          <p:cNvPr id="24" name="대상·출처 구분">
            <a:extLst xmlns:a="http://schemas.openxmlformats.org/drawingml/2006/main">
              <a:ext uri="{FF2B5EF4-FFF2-40B4-BE49-F238E27FC236}">
                <a16:creationId xmlns:a16="http://schemas.microsoft.com/office/drawing/2014/main" id="{0D2236E0-1486-4694-9D61-465B4170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33875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25" name="대상·출처 구분">
            <a:extLst xmlns:a="http://schemas.openxmlformats.org/drawingml/2006/main">
              <a:ext uri="{FF2B5EF4-FFF2-40B4-BE49-F238E27FC236}">
                <a16:creationId xmlns:a16="http://schemas.microsoft.com/office/drawing/2014/main" id="{2DB423AA-2641-4652-8376-8C435521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243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대상·출처 구분</a:t>
            </a:r>
          </a:p>
        </p:txBody>
      </p:sp>
      <p:sp>
        <p:nvSpPr>
          <p:cNvPr id="26" name="부품 / 전체 PC 구분&#10;본문 편집 버전 연결&#10;전체 PC는 사용 구성 고정">
            <a:extLst xmlns:a="http://schemas.openxmlformats.org/drawingml/2006/main">
              <a:ext uri="{FF2B5EF4-FFF2-40B4-BE49-F238E27FC236}">
                <a16:creationId xmlns:a16="http://schemas.microsoft.com/office/drawing/2014/main" id="{EB49360B-CD75-4827-B29A-AA79E7B5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부품 / 전체 PC 구분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본문 편집 버전 연결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전체 PC는 사용 구성 고정</a:t>
            </a:r>
          </a:p>
        </p:txBody>
      </p:sp>
      <p:sp>
        <p:nvSpPr>
          <p:cNvPr id="27" name="신호 분석·검토">
            <a:extLst xmlns:a="http://schemas.openxmlformats.org/drawingml/2006/main">
              <a:ext uri="{FF2B5EF4-FFF2-40B4-BE49-F238E27FC236}">
                <a16:creationId xmlns:a16="http://schemas.microsoft.com/office/drawing/2014/main" id="{F7C55C34-64DC-4DDA-A325-5D8EBB4F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33875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28" name="신호 분석·검토">
            <a:extLst xmlns:a="http://schemas.openxmlformats.org/drawingml/2006/main">
              <a:ext uri="{FF2B5EF4-FFF2-40B4-BE49-F238E27FC236}">
                <a16:creationId xmlns:a16="http://schemas.microsoft.com/office/drawing/2014/main" id="{6946E582-0259-454A-B780-2DDD728E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243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신호 분석·검토</a:t>
            </a:r>
          </a:p>
        </p:txBody>
      </p:sp>
      <p:sp>
        <p:nvSpPr>
          <p:cNvPr id="29" name="관측 가능한 근거 수집&#10;의심·불충분 신호 검토&#10;제외 이유와 문맥 보존">
            <a:extLst xmlns:a="http://schemas.openxmlformats.org/drawingml/2006/main">
              <a:ext uri="{FF2B5EF4-FFF2-40B4-BE49-F238E27FC236}">
                <a16:creationId xmlns:a16="http://schemas.microsoft.com/office/drawing/2014/main" id="{BEFBB2F4-D81F-4FE6-9BDD-BA2F175C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57775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관측 가능한 근거 수집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의심·불충분 신호 검토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제외 이유와 문맥 보존</a:t>
            </a:r>
          </a:p>
        </p:txBody>
      </p:sp>
      <p:sp>
        <p:nvSpPr>
          <p:cNvPr id="30" name="요약·통계 제공">
            <a:extLst xmlns:a="http://schemas.openxmlformats.org/drawingml/2006/main">
              <a:ext uri="{FF2B5EF4-FFF2-40B4-BE49-F238E27FC236}">
                <a16:creationId xmlns:a16="http://schemas.microsoft.com/office/drawing/2014/main" id="{E5E0611E-C566-4720-A677-30AA7244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333875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31" name="요약·통계 제공">
            <a:extLst xmlns:a="http://schemas.openxmlformats.org/drawingml/2006/main">
              <a:ext uri="{FF2B5EF4-FFF2-40B4-BE49-F238E27FC236}">
                <a16:creationId xmlns:a16="http://schemas.microsoft.com/office/drawing/2014/main" id="{EBBEFE18-8028-4165-A0CD-29BD2200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5243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요약·통계 제공</a:t>
            </a:r>
          </a:p>
        </p:txBody>
      </p:sp>
      <p:sp>
        <p:nvSpPr>
          <p:cNvPr id="32" name="중복 없이 평점 집계&#10;전후 통계·대표 요약&#10;리뷰 근거 카드 제공">
            <a:extLst xmlns:a="http://schemas.openxmlformats.org/drawingml/2006/main">
              <a:ext uri="{FF2B5EF4-FFF2-40B4-BE49-F238E27FC236}">
                <a16:creationId xmlns:a16="http://schemas.microsoft.com/office/drawing/2014/main" id="{67DA9853-A671-459D-B0A3-0B5F8530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057775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중복 없이 평점 집계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전후 통계·대표 요약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리뷰 근거 카드 제공</a:t>
            </a:r>
          </a:p>
        </p:txBody>
      </p:sp>
      <p:cxnSp>
        <p:nvCxnSpPr>
          <p:cNvPr id="87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477000" y="51911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cxnSp>
        <p:nvCxnSpPr>
          <p:cNvPr id="88" name=""/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0810875" y="51911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sp>
        <p:nvSpPr>
          <p:cNvPr id="35" name="후보 비교와&#10;근거 검증에&#10;반영">
            <a:extLst xmlns:a="http://schemas.openxmlformats.org/drawingml/2006/main">
              <a:ext uri="{FF2B5EF4-FFF2-40B4-BE49-F238E27FC236}">
                <a16:creationId xmlns:a16="http://schemas.microsoft.com/office/drawing/2014/main" id="{12DCB516-13A5-4BA2-8BCE-DBA44B73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471487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후보 비교와</a:t>
            </a:r>
          </a:p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근거 검증에</a:t>
            </a:r>
          </a:p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반영</a:t>
            </a:r>
          </a:p>
        </p:txBody>
      </p:sp>
      <p:sp>
        <p:nvSpPr>
          <p:cNvPr id="36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C33EE153-2684-4F96-916E-BF2FCD43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5143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8B6"/>
            </a:solidFill>
            <a:prstDash val="solid"/>
          </a:ln>
        </p:spPr>
      </p:sp>
      <p:sp>
        <p:nvSpPr>
          <p:cNvPr id="37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45FC8C42-71F7-462F-8DE1-D05B87DB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6675" y="50577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1A8B6"/>
          </a:solidFill>
          <a:ln xmlns:a="http://schemas.openxmlformats.org/drawingml/2006/main" w="0">
            <a:solidFill>
              <a:srgbClr val="91A8B6"/>
            </a:solidFill>
          </a:ln>
        </p:spPr>
      </p:sp>
      <p:sp>
        <p:nvSpPr>
          <p:cNvPr id="38" name="지속 개선">
            <a:extLst xmlns:a="http://schemas.openxmlformats.org/drawingml/2006/main">
              <a:ext uri="{FF2B5EF4-FFF2-40B4-BE49-F238E27FC236}">
                <a16:creationId xmlns:a16="http://schemas.microsoft.com/office/drawing/2014/main" id="{440DE0A3-9F89-49DF-B926-42E9D60F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199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지속 개선</a:t>
            </a:r>
          </a:p>
        </p:txBody>
      </p:sp>
      <p:sp>
        <p:nvSpPr>
          <p:cNvPr id="39" name="추천 중 행동&#10;사용 후 피드백">
            <a:extLst xmlns:a="http://schemas.openxmlformats.org/drawingml/2006/main">
              <a:ext uri="{FF2B5EF4-FFF2-40B4-BE49-F238E27FC236}">
                <a16:creationId xmlns:a16="http://schemas.microsoft.com/office/drawing/2014/main" id="{E3282EFD-693E-4C5E-A84C-031484C1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00925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추천 중 행동</a:t>
            </a:r>
          </a:p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사용 후 피드백</a:t>
            </a:r>
          </a:p>
        </p:txBody>
      </p:sp>
      <p:sp>
        <p:nvSpPr>
          <p:cNvPr id="40" name="행동·사용 경험 수집">
            <a:extLst xmlns:a="http://schemas.openxmlformats.org/drawingml/2006/main">
              <a:ext uri="{FF2B5EF4-FFF2-40B4-BE49-F238E27FC236}">
                <a16:creationId xmlns:a16="http://schemas.microsoft.com/office/drawing/2014/main" id="{D0BDCC78-FC8C-4E3A-8D86-64063DA1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7627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41" name="행동·사용 경험 수집">
            <a:extLst xmlns:a="http://schemas.openxmlformats.org/drawingml/2006/main">
              <a:ext uri="{FF2B5EF4-FFF2-40B4-BE49-F238E27FC236}">
                <a16:creationId xmlns:a16="http://schemas.microsoft.com/office/drawing/2014/main" id="{972712A6-FB62-4753-B6A5-664C5E10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953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행동·사용 경험 수집</a:t>
            </a:r>
          </a:p>
        </p:txBody>
      </p:sp>
      <p:sp>
        <p:nvSpPr>
          <p:cNvPr id="42" name="노출·교체·제외·확정&#10;리뷰·오류·이슈 제보">
            <a:extLst xmlns:a="http://schemas.openxmlformats.org/drawingml/2006/main">
              <a:ext uri="{FF2B5EF4-FFF2-40B4-BE49-F238E27FC236}">
                <a16:creationId xmlns:a16="http://schemas.microsoft.com/office/drawing/2014/main" id="{5876F744-9CD3-4CFD-97B8-098CBE28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486650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노출·교체·제외·확정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리뷰·오류·이슈 제보</a:t>
            </a:r>
          </a:p>
        </p:txBody>
      </p:sp>
      <p:sp>
        <p:nvSpPr>
          <p:cNvPr id="43" name="학습·평가·검수">
            <a:extLst xmlns:a="http://schemas.openxmlformats.org/drawingml/2006/main">
              <a:ext uri="{FF2B5EF4-FFF2-40B4-BE49-F238E27FC236}">
                <a16:creationId xmlns:a16="http://schemas.microsoft.com/office/drawing/2014/main" id="{4E233E85-754B-46F5-99F1-6493565B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7627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44" name="학습·평가·검수">
            <a:extLst xmlns:a="http://schemas.openxmlformats.org/drawingml/2006/main">
              <a:ext uri="{FF2B5EF4-FFF2-40B4-BE49-F238E27FC236}">
                <a16:creationId xmlns:a16="http://schemas.microsoft.com/office/drawing/2014/main" id="{5FAFEB29-9CA2-4B2F-AFF7-88976D77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953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학습·평가·검수</a:t>
            </a:r>
          </a:p>
        </p:txBody>
      </p:sp>
      <p:sp>
        <p:nvSpPr>
          <p:cNvPr id="45" name="실제 표본과 증강 구분&#10;정답 라벨·분할 관리&#10;독립 평가·변경 검토">
            <a:extLst xmlns:a="http://schemas.openxmlformats.org/drawingml/2006/main">
              <a:ext uri="{FF2B5EF4-FFF2-40B4-BE49-F238E27FC236}">
                <a16:creationId xmlns:a16="http://schemas.microsoft.com/office/drawing/2014/main" id="{E04A7822-1B9A-4C67-A10A-8F882DFE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486650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실제 표본과 증강 구분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정답 라벨·분할 관리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독립 평가·변경 검토</a:t>
            </a:r>
          </a:p>
        </p:txBody>
      </p:sp>
      <p:sp>
        <p:nvSpPr>
          <p:cNvPr id="46" name="추천 기준 개선">
            <a:extLst xmlns:a="http://schemas.openxmlformats.org/drawingml/2006/main">
              <a:ext uri="{FF2B5EF4-FFF2-40B4-BE49-F238E27FC236}">
                <a16:creationId xmlns:a16="http://schemas.microsoft.com/office/drawing/2014/main" id="{94ADF18B-0022-4996-A0F7-B7786F2E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7627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47" name="추천 기준 개선">
            <a:extLst xmlns:a="http://schemas.openxmlformats.org/drawingml/2006/main">
              <a:ext uri="{FF2B5EF4-FFF2-40B4-BE49-F238E27FC236}">
                <a16:creationId xmlns:a16="http://schemas.microsoft.com/office/drawing/2014/main" id="{4506529A-5CC6-452F-B325-B654E9DB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953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추천 기준 개선</a:t>
            </a:r>
          </a:p>
        </p:txBody>
      </p:sp>
      <p:sp>
        <p:nvSpPr>
          <p:cNvPr id="48" name="가중치·예산 프로필&#10;규격·근거 자료 갱신&#10;검토·승인 후 반영">
            <a:extLst xmlns:a="http://schemas.openxmlformats.org/drawingml/2006/main">
              <a:ext uri="{FF2B5EF4-FFF2-40B4-BE49-F238E27FC236}">
                <a16:creationId xmlns:a16="http://schemas.microsoft.com/office/drawing/2014/main" id="{80A06714-0D0A-4E83-BE36-16F9A4ED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486650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가중치·예산 프로필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규격·근거 자료 갱신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검토·승인 후 반영</a:t>
            </a:r>
          </a:p>
        </p:txBody>
      </p:sp>
      <p:cxnSp>
        <p:nvCxnSpPr>
          <p:cNvPr id="103" name=""/>
          <p:cNvCxnSpPr>
            <a:stCxn xmlns:a="http://schemas.openxmlformats.org/drawingml/2006/main" id="40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6477000" y="76200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cxnSp>
        <p:nvCxnSpPr>
          <p:cNvPr id="104" name=""/>
          <p:cNvCxnSpPr>
            <a:stCxn xmlns:a="http://schemas.openxmlformats.org/drawingml/2006/main" id="43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10810875" y="76200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tailEnd type="triangle" w="med" len="med"/>
          </a:ln>
        </p:spPr>
      </p:cxnSp>
      <p:sp>
        <p:nvSpPr>
          <p:cNvPr id="51" name="다음 추천의&#10;조건 해석·순위·&#10;검증에 반영">
            <a:extLst xmlns:a="http://schemas.openxmlformats.org/drawingml/2006/main">
              <a:ext uri="{FF2B5EF4-FFF2-40B4-BE49-F238E27FC236}">
                <a16:creationId xmlns:a16="http://schemas.microsoft.com/office/drawing/2014/main" id="{E0D303DD-93BA-46D1-854C-9BFE4881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71437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다음 추천의</a:t>
            </a:r>
          </a:p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조건 해석·순위·</a:t>
            </a:r>
          </a:p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검증에 반영</a:t>
            </a:r>
          </a:p>
        </p:txBody>
      </p:sp>
      <p:sp>
        <p:nvSpPr>
          <p:cNvPr id="52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823534D5-9D5B-4301-9A37-CF5499D7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76200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8B6"/>
            </a:solidFill>
            <a:prstDash val="solid"/>
          </a:ln>
        </p:spPr>
      </p:sp>
      <p:sp>
        <p:nvSpPr>
          <p:cNvPr id="53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82BF73FB-6C23-4B7D-A086-703B4B1B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6675" y="75342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1A8B6"/>
          </a:solidFill>
          <a:ln xmlns:a="http://schemas.openxmlformats.org/drawingml/2006/main" w="0">
            <a:solidFill>
              <a:srgbClr val="91A8B6"/>
            </a:solidFill>
          </a:ln>
        </p:spPr>
      </p:sp>
      <p:sp>
        <p:nvSpPr>
          <p:cNvPr id="54" name="합성 표본은 학습·평가용으로 격리합니다. 운영 후기 수·평균에는 실제 리뷰만 포함합니다.">
            <a:extLst xmlns:a="http://schemas.openxmlformats.org/drawingml/2006/main">
              <a:ext uri="{FF2B5EF4-FFF2-40B4-BE49-F238E27FC236}">
                <a16:creationId xmlns:a16="http://schemas.microsoft.com/office/drawing/2014/main" id="{DFADBC40-1658-4A15-9CCF-7EC3D399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839200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합성 표본은 학습·평가용으로 격리합니다. 운영 후기 수·평균에는 실제 리뷰만 포함합니다.</a:t>
            </a:r>
          </a:p>
        </p:txBody>
      </p:sp>
    </p:spTree>
    <p:extLst>
      <p:ext uri="{BB962C8B-B14F-4D97-AF65-F5344CB8AC3E}">
        <p14:creationId xmlns:p14="http://schemas.microsoft.com/office/powerpoint/2010/main" val="1200471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2026-09-11T04:55:36.4920000Z</dcterms:created>
  <dcterms:modified xsi:type="dcterms:W3CDTF">2026-09-11T04:55:36.4920000Z</dcterms:modified>
</coreProperties>
</file>