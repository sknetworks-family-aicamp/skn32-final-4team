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a969952fc43b1" /><Relationship Type="http://schemas.openxmlformats.org/officeDocument/2006/relationships/extended-properties" Target="/docProps/app.xml" Id="Rcb2be22e20f44550" /><Relationship Type="http://schemas.openxmlformats.org/officeDocument/2006/relationships/officeDocument" Target="/ppt/presentation.xml" Id="Rc1e56cc6016441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acebfce6640f4"/>
  </p:sldMasterIdLst>
  <p:notesMasterIdLst>
    <p:notesMasterId xmlns:r="http://schemas.openxmlformats.org/officeDocument/2006/relationships" r:id="R9f5ba82174da44d0"/>
  </p:notesMasterIdLst>
  <p:sldIdLst>
    <p:sldId xmlns:r="http://schemas.openxmlformats.org/officeDocument/2006/relationships" id="256" r:id="Rb2ecc7d91e7e4921"/>
    <p:sldId xmlns:r="http://schemas.openxmlformats.org/officeDocument/2006/relationships" id="257" r:id="R7c170b4d9ee34ecb"/>
    <p:sldId xmlns:r="http://schemas.openxmlformats.org/officeDocument/2006/relationships" id="258" r:id="R2612a56f5af244d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42fcfbc1644fdd" /><Relationship Type="http://schemas.openxmlformats.org/officeDocument/2006/relationships/slideMaster" Target="/ppt/slideMasters/slideMaster1.xml" Id="Rf85acebfce6640f4" /><Relationship Type="http://schemas.openxmlformats.org/officeDocument/2006/relationships/notesMaster" Target="/ppt/notesMasters/notesMaster1.xml" Id="R9f5ba82174da44d0" /><Relationship Type="http://schemas.openxmlformats.org/officeDocument/2006/relationships/presProps" Target="/ppt/presProps.xml" Id="R14218b462e5c49ee" /><Relationship Type="http://schemas.openxmlformats.org/officeDocument/2006/relationships/tableStyles" Target="/ppt/tableStyles.xml" Id="Rb22af61f45f84077" /><Relationship Type="http://schemas.openxmlformats.org/officeDocument/2006/relationships/slide" Target="/ppt/slides/slide1.xml" Id="Rb2ecc7d91e7e4921" /><Relationship Type="http://schemas.openxmlformats.org/officeDocument/2006/relationships/slide" Target="/ppt/slides/slide2.xml" Id="R7c170b4d9ee34ecb" /><Relationship Type="http://schemas.openxmlformats.org/officeDocument/2006/relationships/slide" Target="/ppt/slides/slide3.xml" Id="R2612a56f5af2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e61720ac45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69c7cc8704807" /><Relationship Type="http://schemas.openxmlformats.org/officeDocument/2006/relationships/notesMaster" Target="/ppt/notesMasters/notesMaster1.xml" Id="Rdeb3a0c9de9a48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40ff2063614b08" /><Relationship Type="http://schemas.openxmlformats.org/officeDocument/2006/relationships/notesMaster" Target="/ppt/notesMasters/notesMaster1.xml" Id="R3dc943063cd24b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24549f38a45b1" /><Relationship Type="http://schemas.openxmlformats.org/officeDocument/2006/relationships/notesMaster" Target="/ppt/notesMasters/notesMaster1.xml" Id="R023e5cf65a604f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프로젝트_기획서_v2.md; 기술기획서_데모+최종.md; docs/db/table_spec.md v4. 전체 서비스 완성 시점을 표현한다. 현행 개발 단계와 구분하지 않는다. 기술기획서 최종 범위의 사후 개선 배치를 포함하되, 원문 보관·리뷰 평가·합성 데이터 격리는 v4 정책을 따른다. 요리 도메인은 포함하지 않는다. 사용자 흐름: 기술기획서 2~3절. 가격 추적·재편집: 테이블 명세 51~53, 8~9절. 외부 구매 링크 클릭만으로 구매 완료를 판정하지 않으며 직접 작성 전체 PC 리뷰에는 자기신고 구성과 공개 동의가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프로젝트_기획서_v2.md; 기술기획서_데모+최종.md; docs/db/table_spec.md v4. 전체 서비스 완성 시점을 표현한다. 현행 개발 단계와 구분하지 않는다. 기술기획서 최종 범위의 사후 개선 배치를 포함하되, 원문 보관·리뷰 평가·합성 데이터 격리는 v4 정책을 따른다. 요리 도메인은 포함하지 않는다. 엔진: 기술기획서 4~11절. 규칙 기반 필터·점수·최적화와 LLM의 조건 추출·근거 문장화를 구분한다. 적대적 디베이트는 폐기한 기획이므로 포함하지 않는다. PC 세트 검증과 유아 품목별 검증의 순서를 보존했다. 재탐색은 설정된 한도 내 수행하며 유아 안전축 미해결 후보는 제외한다. 숫자 임계값은 운영 보정 대상이므로 본 도식에서는 기준 미달로 표현했다.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프로젝트_기획서_v2.md; 기술기획서_데모+최종.md; docs/db/table_spec.md v4. 전체 서비스 완성 시점을 표현한다. 현행 개발 단계와 구분하지 않는다. 기술기획서 최종 범위의 사후 개선 배치를 포함하되, 원문 보관·리뷰 평가·합성 데이터 격리는 v4 정책을 따른다. 요리 도메인은 포함하지 않는다. 자료: 명세 8.1~8.3절. 외부 리뷰 원문은 저장하지 않고 허용된 요약·출처·비원문 분석값을 사용하며 직접 작성 본문은 버전 관리한다. 리뷰: 명세 8.4~8.6절. 실구매 표시는 진실성 정답이 아니며 supported/manipulation_indicators/undetermined 근거 판정과 분리한다. 실제 train 부모 하나에서 증강하고 평가용 실제 표본은 사람 승인 라벨을 사용한다. 사후 개선: 기술기획서 12절의 최종 서비스 배치 흐름. 실구매 인증을 서비스가 자동 수행한다는 의미는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386592e6c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5735df3f04fab" /><Relationship Type="http://schemas.openxmlformats.org/officeDocument/2006/relationships/slideLayout" Target="/ppt/slideLayouts/slideLayout1.xml" Id="R40ef93d7972d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ef93d7972d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c027a3fa84f3b" /><Relationship Type="http://schemas.openxmlformats.org/officeDocument/2006/relationships/notesSlide" Target="/ppt/notesSlides/notesSlide1.xml" Id="R0fba718dfeb348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3b3e0a59f4e2d" /><Relationship Type="http://schemas.openxmlformats.org/officeDocument/2006/relationships/notesSlide" Target="/ppt/notesSlides/notesSlide2.xml" Id="Rce4ab1c25f3441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17e970d484206" /><Relationship Type="http://schemas.openxmlformats.org/officeDocument/2006/relationships/notesSlide" Target="/ppt/notesSlides/notesSlide3.xml" Id="Rb8a88218f1fe40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목적 입력부터 구매 이후까지">
            <a:extLst xmlns:a="http://schemas.openxmlformats.org/drawingml/2006/main">
              <a:ext uri="{FF2B5EF4-FFF2-40B4-BE49-F238E27FC236}">
                <a16:creationId xmlns:a16="http://schemas.microsoft.com/office/drawing/2014/main" id="{71CA0B37-7C1D-48E7-B998-22DAF29C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목적 입력부터 구매 이후까지</a:t>
            </a:r>
          </a:p>
        </p:txBody>
      </p:sp>
      <p:sp>
        <p:nvSpPr>
          <p:cNvPr id="2" name="가입 없이 추천과 근거를 살펴보고, 마음에 드는 구성을 저장해 구매와 사용으로 이어갑니다.">
            <a:extLst xmlns:a="http://schemas.openxmlformats.org/drawingml/2006/main">
              <a:ext uri="{FF2B5EF4-FFF2-40B4-BE49-F238E27FC236}">
                <a16:creationId xmlns:a16="http://schemas.microsoft.com/office/drawing/2014/main" id="{B66D1F65-3565-4440-BE52-4225CEF9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695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가입 없이 추천과 근거를 살펴보고, 마음에 드는 구성을 저장해 구매와 사용으로 이어갑니다.</a:t>
            </a:r>
          </a:p>
        </p:txBody>
      </p:sp>
      <p:sp>
        <p:nvSpPr>
          <p:cNvPr id="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4C3CDC5A-A0FF-45D0-B267-30723BD9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0"/>
            <a:ext cx="1714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E9"/>
            </a:solidFill>
            <a:prstDash val="solid"/>
          </a:ln>
        </p:spPr>
      </p:sp>
      <p:sp>
        <p:nvSpPr>
          <p:cNvPr id="4" name="TrueFit  ·  전체 서비스 기획">
            <a:extLst xmlns:a="http://schemas.openxmlformats.org/drawingml/2006/main">
              <a:ext uri="{FF2B5EF4-FFF2-40B4-BE49-F238E27FC236}">
                <a16:creationId xmlns:a16="http://schemas.microsoft.com/office/drawing/2014/main" id="{811F8001-02C2-4802-AC6C-E4A0DC08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1619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TrueFit  ·  전체 서비스 기획</a:t>
            </a:r>
          </a:p>
        </p:txBody>
      </p:sp>
      <p:sp>
        <p:nvSpPr>
          <p:cNvPr id="5" name="1 / 3">
            <a:extLst xmlns:a="http://schemas.openxmlformats.org/drawingml/2006/main">
              <a:ext uri="{FF2B5EF4-FFF2-40B4-BE49-F238E27FC236}">
                <a16:creationId xmlns:a16="http://schemas.microsoft.com/office/drawing/2014/main" id="{E63B8100-096C-46C7-9FE7-69B6CFA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7155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1 / 3</a:t>
            </a:r>
          </a:p>
        </p:txBody>
      </p:sp>
      <p:sp>
        <p:nvSpPr>
          <p:cNvPr id="6" name="대화 · 추천 · 근거 확인은 비로그인으로 이용">
            <a:extLst xmlns:a="http://schemas.openxmlformats.org/drawingml/2006/main">
              <a:ext uri="{FF2B5EF4-FFF2-40B4-BE49-F238E27FC236}">
                <a16:creationId xmlns:a16="http://schemas.microsoft.com/office/drawing/2014/main" id="{C9B171E2-78C7-44EA-9A39-936CF55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대화 · 추천 · 근거 확인은 비로그인으로 이용</a:t>
            </a:r>
          </a:p>
        </p:txBody>
      </p:sp>
      <p:sp>
        <p:nvSpPr>
          <p:cNvPr id="7" name="저장 · 확정 · 알림 · 리뷰 작성은 로그인 후 이용">
            <a:extLst xmlns:a="http://schemas.openxmlformats.org/drawingml/2006/main">
              <a:ext uri="{FF2B5EF4-FFF2-40B4-BE49-F238E27FC236}">
                <a16:creationId xmlns:a16="http://schemas.microsoft.com/office/drawing/2014/main" id="{8F883311-7D19-46BE-B05A-ED7419EA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7167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저장 · 확정 · 알림 · 리뷰 작성은 로그인 후 이용</a:t>
            </a:r>
          </a:p>
        </p:txBody>
      </p:sp>
      <p:sp>
        <p:nvSpPr>
          <p:cNvPr id="8" name="목적 선택">
            <a:extLst xmlns:a="http://schemas.openxmlformats.org/drawingml/2006/main">
              <a:ext uri="{FF2B5EF4-FFF2-40B4-BE49-F238E27FC236}">
                <a16:creationId xmlns:a16="http://schemas.microsoft.com/office/drawing/2014/main" id="{C04BCACF-FB3A-463A-9960-72D70D1C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9" name="목적 선택">
            <a:extLst xmlns:a="http://schemas.openxmlformats.org/drawingml/2006/main">
              <a:ext uri="{FF2B5EF4-FFF2-40B4-BE49-F238E27FC236}">
                <a16:creationId xmlns:a16="http://schemas.microsoft.com/office/drawing/2014/main" id="{7A725825-DF7F-4406-AE56-0FF3D3B3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목적 선택</a:t>
            </a:r>
          </a:p>
        </p:txBody>
      </p:sp>
      <p:sp>
        <p:nvSpPr>
          <p:cNvPr id="10" name="PC / 유아용품&#10;신규 / 업그레이드">
            <a:extLst xmlns:a="http://schemas.openxmlformats.org/drawingml/2006/main">
              <a:ext uri="{FF2B5EF4-FFF2-40B4-BE49-F238E27FC236}">
                <a16:creationId xmlns:a16="http://schemas.microsoft.com/office/drawing/2014/main" id="{17DF3473-5095-4A55-9668-D0441EB8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PC / 유아용품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신규 / 업그레이드</a:t>
            </a:r>
          </a:p>
        </p:txBody>
      </p:sp>
      <p:sp>
        <p:nvSpPr>
          <p:cNvPr id="11" name="조건 대화">
            <a:extLst xmlns:a="http://schemas.openxmlformats.org/drawingml/2006/main">
              <a:ext uri="{FF2B5EF4-FFF2-40B4-BE49-F238E27FC236}">
                <a16:creationId xmlns:a16="http://schemas.microsoft.com/office/drawing/2014/main" id="{8F348BD2-2238-4341-93FB-D611BA99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2" name="조건 대화">
            <a:extLst xmlns:a="http://schemas.openxmlformats.org/drawingml/2006/main">
              <a:ext uri="{FF2B5EF4-FFF2-40B4-BE49-F238E27FC236}">
                <a16:creationId xmlns:a16="http://schemas.microsoft.com/office/drawing/2014/main" id="{ACB86E24-A0A7-4CE6-A922-BCAEEE3F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조건 대화</a:t>
            </a:r>
          </a:p>
        </p:txBody>
      </p:sp>
      <p:sp>
        <p:nvSpPr>
          <p:cNvPr id="13" name="예산·용도·월령&#10;부족한 조건 질문">
            <a:extLst xmlns:a="http://schemas.openxmlformats.org/drawingml/2006/main">
              <a:ext uri="{FF2B5EF4-FFF2-40B4-BE49-F238E27FC236}">
                <a16:creationId xmlns:a16="http://schemas.microsoft.com/office/drawing/2014/main" id="{3512FF65-0318-4DB2-909C-4A51169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예산·용도·월령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부족한 조건 질문</a:t>
            </a:r>
          </a:p>
        </p:txBody>
      </p:sp>
      <p:sp>
        <p:nvSpPr>
          <p:cNvPr id="14" name="추천 생성">
            <a:extLst xmlns:a="http://schemas.openxmlformats.org/drawingml/2006/main">
              <a:ext uri="{FF2B5EF4-FFF2-40B4-BE49-F238E27FC236}">
                <a16:creationId xmlns:a16="http://schemas.microsoft.com/office/drawing/2014/main" id="{61EFDD55-0D29-462D-BF95-9BB2EBB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5" name="추천 생성">
            <a:extLst xmlns:a="http://schemas.openxmlformats.org/drawingml/2006/main">
              <a:ext uri="{FF2B5EF4-FFF2-40B4-BE49-F238E27FC236}">
                <a16:creationId xmlns:a16="http://schemas.microsoft.com/office/drawing/2014/main" id="{22CFC098-2902-4B3E-BBE5-FEBD9E1B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생성</a:t>
            </a:r>
          </a:p>
        </p:txBody>
      </p:sp>
      <p:sp>
        <p:nvSpPr>
          <p:cNvPr id="16" name="필요 품목 구성&#10;검증·예산 배분">
            <a:extLst xmlns:a="http://schemas.openxmlformats.org/drawingml/2006/main">
              <a:ext uri="{FF2B5EF4-FFF2-40B4-BE49-F238E27FC236}">
                <a16:creationId xmlns:a16="http://schemas.microsoft.com/office/drawing/2014/main" id="{037AD880-27E7-41B3-8434-5CC670DE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필요 품목 구성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검증·예산 배분</a:t>
            </a:r>
          </a:p>
        </p:txBody>
      </p:sp>
      <p:sp>
        <p:nvSpPr>
          <p:cNvPr id="17" name="비교·수정">
            <a:extLst xmlns:a="http://schemas.openxmlformats.org/drawingml/2006/main">
              <a:ext uri="{FF2B5EF4-FFF2-40B4-BE49-F238E27FC236}">
                <a16:creationId xmlns:a16="http://schemas.microsoft.com/office/drawing/2014/main" id="{02277E90-50B6-46ED-A4BC-E451394C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8" name="비교·수정">
            <a:extLst xmlns:a="http://schemas.openxmlformats.org/drawingml/2006/main">
              <a:ext uri="{FF2B5EF4-FFF2-40B4-BE49-F238E27FC236}">
                <a16:creationId xmlns:a16="http://schemas.microsoft.com/office/drawing/2014/main" id="{2AF145AA-3AEE-454F-892D-5C8BF3FE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비교·수정</a:t>
            </a:r>
          </a:p>
        </p:txBody>
      </p:sp>
      <p:sp>
        <p:nvSpPr>
          <p:cNvPr id="19" name="근거·리뷰·대안&#10;항목 교체·제외">
            <a:extLst xmlns:a="http://schemas.openxmlformats.org/drawingml/2006/main">
              <a:ext uri="{FF2B5EF4-FFF2-40B4-BE49-F238E27FC236}">
                <a16:creationId xmlns:a16="http://schemas.microsoft.com/office/drawing/2014/main" id="{CB708BB4-ED6E-41D0-A73D-4EF3F15C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근거·리뷰·대안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항목 교체·제외</a:t>
            </a:r>
          </a:p>
        </p:txBody>
      </p:sp>
      <p:sp>
        <p:nvSpPr>
          <p:cNvPr id="20" name="로그인·확정">
            <a:extLst xmlns:a="http://schemas.openxmlformats.org/drawingml/2006/main">
              <a:ext uri="{FF2B5EF4-FFF2-40B4-BE49-F238E27FC236}">
                <a16:creationId xmlns:a16="http://schemas.microsoft.com/office/drawing/2014/main" id="{6DFBCE66-0C4B-42F0-8CAC-E7696155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1" name="로그인·확정">
            <a:extLst xmlns:a="http://schemas.openxmlformats.org/drawingml/2006/main">
              <a:ext uri="{FF2B5EF4-FFF2-40B4-BE49-F238E27FC236}">
                <a16:creationId xmlns:a16="http://schemas.microsoft.com/office/drawing/2014/main" id="{6A8F8E57-B141-475B-9A0E-20F79703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로그인·확정</a:t>
            </a:r>
          </a:p>
        </p:txBody>
      </p:sp>
      <p:sp>
        <p:nvSpPr>
          <p:cNvPr id="22" name="이메일 코드 인증&#10;이름·구매일 저장">
            <a:extLst xmlns:a="http://schemas.openxmlformats.org/drawingml/2006/main">
              <a:ext uri="{FF2B5EF4-FFF2-40B4-BE49-F238E27FC236}">
                <a16:creationId xmlns:a16="http://schemas.microsoft.com/office/drawing/2014/main" id="{DCB2D99F-3ECC-4995-A8CF-FFA3768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이메일 코드 인증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이름·구매일 저장</a:t>
            </a:r>
          </a:p>
        </p:txBody>
      </p:sp>
      <p:sp>
        <p:nvSpPr>
          <p:cNvPr id="23" name="리포트·구매">
            <a:extLst xmlns:a="http://schemas.openxmlformats.org/drawingml/2006/main">
              <a:ext uri="{FF2B5EF4-FFF2-40B4-BE49-F238E27FC236}">
                <a16:creationId xmlns:a16="http://schemas.microsoft.com/office/drawing/2014/main" id="{174E8A5C-4B5C-4165-AABA-24A26450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4" name="리포트·구매">
            <a:extLst xmlns:a="http://schemas.openxmlformats.org/drawingml/2006/main">
              <a:ext uri="{FF2B5EF4-FFF2-40B4-BE49-F238E27FC236}">
                <a16:creationId xmlns:a16="http://schemas.microsoft.com/office/drawing/2014/main" id="{A40956BE-4DE9-4DE0-98D6-95AB3815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리포트·구매</a:t>
            </a:r>
          </a:p>
        </p:txBody>
      </p:sp>
      <p:sp>
        <p:nvSpPr>
          <p:cNvPr id="25" name="확정 구성 확인&#10;외부 쇼핑몰 이동">
            <a:extLst xmlns:a="http://schemas.openxmlformats.org/drawingml/2006/main">
              <a:ext uri="{FF2B5EF4-FFF2-40B4-BE49-F238E27FC236}">
                <a16:creationId xmlns:a16="http://schemas.microsoft.com/office/drawing/2014/main" id="{ADFEEB23-EFB8-42DD-A18E-6985A586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확정 구성 확인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외부 쇼핑몰 이동</a:t>
            </a:r>
          </a:p>
        </p:txBody>
      </p:sp>
      <p:sp>
        <p:nvSpPr>
          <p:cNvPr id="26" name="사용 리뷰">
            <a:extLst xmlns:a="http://schemas.openxmlformats.org/drawingml/2006/main">
              <a:ext uri="{FF2B5EF4-FFF2-40B4-BE49-F238E27FC236}">
                <a16:creationId xmlns:a16="http://schemas.microsoft.com/office/drawing/2014/main" id="{36E6B2CA-FCD2-45B7-BCF8-B654CA7E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714625"/>
            <a:ext cx="22860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7" name="사용 리뷰">
            <a:extLst xmlns:a="http://schemas.openxmlformats.org/drawingml/2006/main">
              <a:ext uri="{FF2B5EF4-FFF2-40B4-BE49-F238E27FC236}">
                <a16:creationId xmlns:a16="http://schemas.microsoft.com/office/drawing/2014/main" id="{56FC52C1-F09E-4D7B-A15B-AFB63C7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905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사용 리뷰</a:t>
            </a:r>
          </a:p>
        </p:txBody>
      </p:sp>
      <p:sp>
        <p:nvSpPr>
          <p:cNvPr id="28" name="PC 부품 / 전체 PC&#10;실제 사용 구성">
            <a:extLst xmlns:a="http://schemas.openxmlformats.org/drawingml/2006/main">
              <a:ext uri="{FF2B5EF4-FFF2-40B4-BE49-F238E27FC236}">
                <a16:creationId xmlns:a16="http://schemas.microsoft.com/office/drawing/2014/main" id="{32F64297-F6FA-4A18-A05E-38BF45C8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438525"/>
            <a:ext cx="190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PC 부품 / 전체 PC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실제 사용 구성</a:t>
            </a:r>
          </a:p>
        </p:txBody>
      </p:sp>
      <p:cxnSp>
        <p:nvCxnSpPr>
          <p:cNvPr id="9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575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9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3340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105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97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2870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98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7635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99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5240000" y="36433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35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C4D4F8ED-C79E-4FFC-8A38-8A2BA0E1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36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5724F5C6-EAA4-42E7-A897-338899D8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3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9DD67A7-80E4-4918-8791-F511DB1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38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8AD7AC99-B008-4F93-9CD8-BCC2CE46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00325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39" name="조건 변경·재추천">
            <a:extLst xmlns:a="http://schemas.openxmlformats.org/drawingml/2006/main">
              <a:ext uri="{FF2B5EF4-FFF2-40B4-BE49-F238E27FC236}">
                <a16:creationId xmlns:a16="http://schemas.microsoft.com/office/drawing/2014/main" id="{49897E3D-268D-4370-A3DB-11800441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조건 변경·재추천</a:t>
            </a:r>
          </a:p>
        </p:txBody>
      </p:sp>
      <p:sp>
        <p:nvSpPr>
          <p:cNvPr id="40" name="결제는 외부 쇼핑몰에서 진행">
            <a:extLst xmlns:a="http://schemas.openxmlformats.org/drawingml/2006/main">
              <a:ext uri="{FF2B5EF4-FFF2-40B4-BE49-F238E27FC236}">
                <a16:creationId xmlns:a16="http://schemas.microsoft.com/office/drawing/2014/main" id="{B3D06A71-3972-49E8-84CA-408A3A8D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810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결제는 외부 쇼핑몰에서 진행</a:t>
            </a:r>
          </a:p>
        </p:txBody>
      </p:sp>
      <p:sp>
        <p:nvSpPr>
          <p:cNvPr id="41" name="가격 추적 설정">
            <a:extLst xmlns:a="http://schemas.openxmlformats.org/drawingml/2006/main">
              <a:ext uri="{FF2B5EF4-FFF2-40B4-BE49-F238E27FC236}">
                <a16:creationId xmlns:a16="http://schemas.microsoft.com/office/drawing/2014/main" id="{502B15C6-32DA-4AEE-9513-4ADA28D0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00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2" name="가격 추적 설정">
            <a:extLst xmlns:a="http://schemas.openxmlformats.org/drawingml/2006/main">
              <a:ext uri="{FF2B5EF4-FFF2-40B4-BE49-F238E27FC236}">
                <a16:creationId xmlns:a16="http://schemas.microsoft.com/office/drawing/2014/main" id="{25A81A04-68EC-4305-84F5-6307FFDF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가격 추적 설정</a:t>
            </a:r>
          </a:p>
        </p:txBody>
      </p:sp>
      <p:sp>
        <p:nvSpPr>
          <p:cNvPr id="43" name="전체 구성 / 개별 항목&#10;목표가·종료일 지정">
            <a:extLst xmlns:a="http://schemas.openxmlformats.org/drawingml/2006/main">
              <a:ext uri="{FF2B5EF4-FFF2-40B4-BE49-F238E27FC236}">
                <a16:creationId xmlns:a16="http://schemas.microsoft.com/office/drawing/2014/main" id="{62D4A95E-3667-4D13-B0D7-0A4C28E3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724650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전체 구성 / 개별 항목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목표가·종료일 지정</a:t>
            </a:r>
          </a:p>
        </p:txBody>
      </p:sp>
      <p:sp>
        <p:nvSpPr>
          <p:cNvPr id="44" name="가격·재고 확인">
            <a:extLst xmlns:a="http://schemas.openxmlformats.org/drawingml/2006/main">
              <a:ext uri="{FF2B5EF4-FFF2-40B4-BE49-F238E27FC236}">
                <a16:creationId xmlns:a16="http://schemas.microsoft.com/office/drawing/2014/main" id="{B297ECEF-235F-4CE8-AB46-2C9ECD11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00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5" name="가격·재고 확인">
            <a:extLst xmlns:a="http://schemas.openxmlformats.org/drawingml/2006/main">
              <a:ext uri="{FF2B5EF4-FFF2-40B4-BE49-F238E27FC236}">
                <a16:creationId xmlns:a16="http://schemas.microsoft.com/office/drawing/2014/main" id="{5AAC4CF7-2965-48FF-8D75-4FF25F65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가격·재고 확인</a:t>
            </a:r>
          </a:p>
        </p:txBody>
      </p:sp>
      <p:sp>
        <p:nvSpPr>
          <p:cNvPr id="46" name="배송·할인 포함 비교&#10;조회 실패 시 판정 보류">
            <a:extLst xmlns:a="http://schemas.openxmlformats.org/drawingml/2006/main">
              <a:ext uri="{FF2B5EF4-FFF2-40B4-BE49-F238E27FC236}">
                <a16:creationId xmlns:a16="http://schemas.microsoft.com/office/drawing/2014/main" id="{254F31F0-676D-47D2-9B20-3240BFAA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24650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배송·할인 포함 비교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조회 실패 시 판정 보류</a:t>
            </a:r>
          </a:p>
        </p:txBody>
      </p:sp>
      <p:sp>
        <p:nvSpPr>
          <p:cNvPr id="47" name="목표가 알림">
            <a:extLst xmlns:a="http://schemas.openxmlformats.org/drawingml/2006/main">
              <a:ext uri="{FF2B5EF4-FFF2-40B4-BE49-F238E27FC236}">
                <a16:creationId xmlns:a16="http://schemas.microsoft.com/office/drawing/2014/main" id="{BD804E11-36D5-400F-BC2C-7A1C47F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00075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8" name="목표가 알림">
            <a:extLst xmlns:a="http://schemas.openxmlformats.org/drawingml/2006/main">
              <a:ext uri="{FF2B5EF4-FFF2-40B4-BE49-F238E27FC236}">
                <a16:creationId xmlns:a16="http://schemas.microsoft.com/office/drawing/2014/main" id="{EF77A1E1-9DC8-47FA-839C-0889903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1912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목표가 알림</a:t>
            </a:r>
          </a:p>
        </p:txBody>
      </p:sp>
      <p:sp>
        <p:nvSpPr>
          <p:cNvPr id="49" name="목표 도달 시 이메일&#10;리포트에서 구매 링크">
            <a:extLst xmlns:a="http://schemas.openxmlformats.org/drawingml/2006/main">
              <a:ext uri="{FF2B5EF4-FFF2-40B4-BE49-F238E27FC236}">
                <a16:creationId xmlns:a16="http://schemas.microsoft.com/office/drawing/2014/main" id="{47BE9B90-49F9-40AB-836D-B7E665AF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724650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목표 도달 시 이메일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리포트에서 구매 링크</a:t>
            </a:r>
          </a:p>
        </p:txBody>
      </p:sp>
      <p:sp>
        <p:nvSpPr>
          <p:cNvPr id="50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DEBDD490-BA6C-4DE7-8DB0-D3469B7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7200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1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3EEF50D5-59F5-467F-8D89-B872B15E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81625"/>
            <a:ext cx="260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A0ADF385-6391-4245-A96B-CC7D925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8162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3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CF1FD5C9-3008-4D75-AAFC-0CC0B886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86450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54" name="확정 후 선택하는 가격 알림">
            <a:extLst xmlns:a="http://schemas.openxmlformats.org/drawingml/2006/main">
              <a:ext uri="{FF2B5EF4-FFF2-40B4-BE49-F238E27FC236}">
                <a16:creationId xmlns:a16="http://schemas.microsoft.com/office/drawing/2014/main" id="{C6F7B3F1-08BE-4800-AFA3-1BE9F122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196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확정 후 선택하는 가격 알림</a:t>
            </a:r>
          </a:p>
        </p:txBody>
      </p:sp>
      <p:cxnSp>
        <p:nvCxnSpPr>
          <p:cNvPr id="120" name=""/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0525125" y="681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049375" y="6810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5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E787CD07-0ACB-4FC7-B6A7-F9CEDFD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5476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8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7EDB501-060D-47EB-890E-451D8B9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5476875"/>
            <a:ext cx="1971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9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99690684-3B30-425F-ADDD-252544E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57200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60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11A15DF4-1FEA-436C-B386-649107EB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533900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61" name="리포트로 돌아가기">
            <a:extLst xmlns:a="http://schemas.openxmlformats.org/drawingml/2006/main">
              <a:ext uri="{FF2B5EF4-FFF2-40B4-BE49-F238E27FC236}">
                <a16:creationId xmlns:a16="http://schemas.microsoft.com/office/drawing/2014/main" id="{C5190F72-7474-4510-8F6B-44EA856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533900"/>
            <a:ext cx="1714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noFill/>
          </a:ln>
        </p:spPr>
      </p:sp>
      <p:sp>
        <p:nvSpPr>
          <p:cNvPr id="62" name="알림에서 리포트 열기">
            <a:extLst xmlns:a="http://schemas.openxmlformats.org/drawingml/2006/main">
              <a:ext uri="{FF2B5EF4-FFF2-40B4-BE49-F238E27FC236}">
                <a16:creationId xmlns:a16="http://schemas.microsoft.com/office/drawing/2014/main" id="{669C732F-D143-4294-8EF5-C50FDAE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52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알림에서 리포트 열기</a:t>
            </a:r>
          </a:p>
        </p:txBody>
      </p:sp>
      <p:sp>
        <p:nvSpPr>
          <p:cNvPr id="63" name="사용자가 언제든 다시 조정">
            <a:extLst xmlns:a="http://schemas.openxmlformats.org/drawingml/2006/main">
              <a:ext uri="{FF2B5EF4-FFF2-40B4-BE49-F238E27FC236}">
                <a16:creationId xmlns:a16="http://schemas.microsoft.com/office/drawing/2014/main" id="{5F5BA67F-A6DB-4C2B-87FD-D03E7D4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595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사용자가 언제든 다시 조정</a:t>
            </a:r>
          </a:p>
        </p:txBody>
      </p:sp>
      <p:sp>
        <p:nvSpPr>
          <p:cNvPr id="64" name="확정본을 수정하면 새 초안을 만듭니다.&#10;기존 구성과 근거는 보존하고,&#10;재확정한 구성에 가격 추적을 연결합니다.">
            <a:extLst xmlns:a="http://schemas.openxmlformats.org/drawingml/2006/main">
              <a:ext uri="{FF2B5EF4-FFF2-40B4-BE49-F238E27FC236}">
                <a16:creationId xmlns:a16="http://schemas.microsoft.com/office/drawing/2014/main" id="{140464A0-69E1-4617-A846-195B6297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590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확정본을 수정하면 새 초안을 만듭니다.</a:t>
            </a:r>
          </a:p>
          <a:p xmlns:a="http://schemas.openxmlformats.org/drawingml/2006/main">
            <a:pPr algn="l">
              <a:def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기존 구성과 근거는 보존하고,</a:t>
            </a:r>
          </a:p>
          <a:p xmlns:a="http://schemas.openxmlformats.org/drawingml/2006/main">
            <a:pPr algn="l">
              <a:def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재확정한 구성에 가격 추적을 연결합니다.</a:t>
            </a:r>
          </a:p>
        </p:txBody>
      </p:sp>
      <p:sp>
        <p:nvSpPr>
          <p:cNvPr id="65" name="대화 1건 = 리스트 1건     /     화면은 대화·추천 결과·물품 리스트를 함께 보여줍니다.">
            <a:extLst xmlns:a="http://schemas.openxmlformats.org/drawingml/2006/main">
              <a:ext uri="{FF2B5EF4-FFF2-40B4-BE49-F238E27FC236}">
                <a16:creationId xmlns:a16="http://schemas.microsoft.com/office/drawing/2014/main" id="{4488C6C6-D112-41C9-BDDD-FAFC1CF5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24875"/>
            <a:ext cx="1676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대화 1건 = 리스트 1건     /     화면은 대화·추천 결과·물품 리스트를 함께 보여줍니다.</a:t>
            </a:r>
          </a:p>
        </p:txBody>
      </p:sp>
    </p:spTree>
    <p:extLst>
      <p:ext uri="{BB962C8B-B14F-4D97-AF65-F5344CB8AC3E}">
        <p14:creationId xmlns:p14="http://schemas.microsoft.com/office/powerpoint/2010/main" val="150039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추천 엔진의 판단 흐름">
            <a:extLst xmlns:a="http://schemas.openxmlformats.org/drawingml/2006/main">
              <a:ext uri="{FF2B5EF4-FFF2-40B4-BE49-F238E27FC236}">
                <a16:creationId xmlns:a16="http://schemas.microsoft.com/office/drawing/2014/main" id="{A73C2E46-8B31-4575-840B-4AC517D0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엔진의 판단 흐름</a:t>
            </a:r>
          </a:p>
        </p:txBody>
      </p:sp>
      <p:sp>
        <p:nvSpPr>
          <p:cNvPr id="2" name="PC는 완성된 부품 조합을 검증하고, 유아용품은 품목별 검증을 마친 뒤 예산을 배분합니다.">
            <a:extLst xmlns:a="http://schemas.openxmlformats.org/drawingml/2006/main">
              <a:ext uri="{FF2B5EF4-FFF2-40B4-BE49-F238E27FC236}">
                <a16:creationId xmlns:a16="http://schemas.microsoft.com/office/drawing/2014/main" id="{14CB32A1-89EE-41E8-803B-DD9FFB86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695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PC는 완성된 부품 조합을 검증하고, 유아용품은 품목별 검증을 마친 뒤 예산을 배분합니다.</a:t>
            </a:r>
          </a:p>
        </p:txBody>
      </p:sp>
      <p:sp>
        <p:nvSpPr>
          <p:cNvPr id="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20A2D2D1-AD6F-4F8C-BE1C-08A7C608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0"/>
            <a:ext cx="1714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E9"/>
            </a:solidFill>
            <a:prstDash val="solid"/>
          </a:ln>
        </p:spPr>
      </p:sp>
      <p:sp>
        <p:nvSpPr>
          <p:cNvPr id="4" name="TrueFit  ·  전체 서비스 기획">
            <a:extLst xmlns:a="http://schemas.openxmlformats.org/drawingml/2006/main">
              <a:ext uri="{FF2B5EF4-FFF2-40B4-BE49-F238E27FC236}">
                <a16:creationId xmlns:a16="http://schemas.microsoft.com/office/drawing/2014/main" id="{AAC52F7D-97F2-4CA5-A044-A1086BD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1619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TrueFit  ·  전체 서비스 기획</a:t>
            </a:r>
          </a:p>
        </p:txBody>
      </p:sp>
      <p:sp>
        <p:nvSpPr>
          <p:cNvPr id="5" name="2 / 3">
            <a:extLst xmlns:a="http://schemas.openxmlformats.org/drawingml/2006/main">
              <a:ext uri="{FF2B5EF4-FFF2-40B4-BE49-F238E27FC236}">
                <a16:creationId xmlns:a16="http://schemas.microsoft.com/office/drawing/2014/main" id="{DD4F48F5-1382-43EE-A9E1-CEA90F18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7155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2 / 3</a:t>
            </a:r>
          </a:p>
        </p:txBody>
      </p:sp>
      <p:sp>
        <p:nvSpPr>
          <p:cNvPr id="6" name="조건 정리">
            <a:extLst xmlns:a="http://schemas.openxmlformats.org/drawingml/2006/main">
              <a:ext uri="{FF2B5EF4-FFF2-40B4-BE49-F238E27FC236}">
                <a16:creationId xmlns:a16="http://schemas.microsoft.com/office/drawing/2014/main" id="{2CF906DD-CBD9-4C7D-91F7-182DDD5B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7" name="조건 정리">
            <a:extLst xmlns:a="http://schemas.openxmlformats.org/drawingml/2006/main">
              <a:ext uri="{FF2B5EF4-FFF2-40B4-BE49-F238E27FC236}">
                <a16:creationId xmlns:a16="http://schemas.microsoft.com/office/drawing/2014/main" id="{1CE1E115-D93F-46F5-B549-F8E7280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조건 정리</a:t>
            </a:r>
          </a:p>
        </p:txBody>
      </p:sp>
      <p:sp>
        <p:nvSpPr>
          <p:cNvPr id="8" name="명시 입력·추정·누락 구분">
            <a:extLst xmlns:a="http://schemas.openxmlformats.org/drawingml/2006/main">
              <a:ext uri="{FF2B5EF4-FFF2-40B4-BE49-F238E27FC236}">
                <a16:creationId xmlns:a16="http://schemas.microsoft.com/office/drawing/2014/main" id="{616C7DD7-CE9C-4A03-BA9B-81CF6FE1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명시 입력·추정·누락 구분</a:t>
            </a:r>
          </a:p>
        </p:txBody>
      </p:sp>
      <p:sp>
        <p:nvSpPr>
          <p:cNvPr id="9" name="요구사항 변환">
            <a:extLst xmlns:a="http://schemas.openxmlformats.org/drawingml/2006/main">
              <a:ext uri="{FF2B5EF4-FFF2-40B4-BE49-F238E27FC236}">
                <a16:creationId xmlns:a16="http://schemas.microsoft.com/office/drawing/2014/main" id="{2C77E1F7-5490-44A8-BF2C-4751853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0" name="요구사항 변환">
            <a:extLst xmlns:a="http://schemas.openxmlformats.org/drawingml/2006/main">
              <a:ext uri="{FF2B5EF4-FFF2-40B4-BE49-F238E27FC236}">
                <a16:creationId xmlns:a16="http://schemas.microsoft.com/office/drawing/2014/main" id="{503B6A36-10A9-493B-A399-B81A7D3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요구사항 변환</a:t>
            </a:r>
          </a:p>
        </p:txBody>
      </p:sp>
      <p:sp>
        <p:nvSpPr>
          <p:cNvPr id="11" name="필수 슬롯·수량·제약 정의">
            <a:extLst xmlns:a="http://schemas.openxmlformats.org/drawingml/2006/main">
              <a:ext uri="{FF2B5EF4-FFF2-40B4-BE49-F238E27FC236}">
                <a16:creationId xmlns:a16="http://schemas.microsoft.com/office/drawing/2014/main" id="{3C4A9914-6766-4129-90C3-D12CD54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필수 슬롯·수량·제약 정의</a:t>
            </a:r>
          </a:p>
        </p:txBody>
      </p:sp>
      <p:sp>
        <p:nvSpPr>
          <p:cNvPr id="12" name="후보 수집·필터">
            <a:extLst xmlns:a="http://schemas.openxmlformats.org/drawingml/2006/main">
              <a:ext uri="{FF2B5EF4-FFF2-40B4-BE49-F238E27FC236}">
                <a16:creationId xmlns:a16="http://schemas.microsoft.com/office/drawing/2014/main" id="{94685B5F-497F-41F6-93E7-76AA46B4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3" name="후보 수집·필터">
            <a:extLst xmlns:a="http://schemas.openxmlformats.org/drawingml/2006/main">
              <a:ext uri="{FF2B5EF4-FFF2-40B4-BE49-F238E27FC236}">
                <a16:creationId xmlns:a16="http://schemas.microsoft.com/office/drawing/2014/main" id="{31B31CDA-ABE0-4ACE-AC9A-C84C2D30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후보 수집·필터</a:t>
            </a:r>
          </a:p>
        </p:txBody>
      </p:sp>
      <p:sp>
        <p:nvSpPr>
          <p:cNvPr id="14" name="상품 규격·가격·재고 확인">
            <a:extLst xmlns:a="http://schemas.openxmlformats.org/drawingml/2006/main">
              <a:ext uri="{FF2B5EF4-FFF2-40B4-BE49-F238E27FC236}">
                <a16:creationId xmlns:a16="http://schemas.microsoft.com/office/drawing/2014/main" id="{DBEC6E62-8161-4998-8A86-94B095F3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상품 규격·가격·재고 확인</a:t>
            </a:r>
          </a:p>
        </p:txBody>
      </p:sp>
      <p:sp>
        <p:nvSpPr>
          <p:cNvPr id="15" name="적합도 순위">
            <a:extLst xmlns:a="http://schemas.openxmlformats.org/drawingml/2006/main">
              <a:ext uri="{FF2B5EF4-FFF2-40B4-BE49-F238E27FC236}">
                <a16:creationId xmlns:a16="http://schemas.microsoft.com/office/drawing/2014/main" id="{35ABABAE-E1E4-4FAE-8A3B-C0452895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000250"/>
            <a:ext cx="3429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6" name="적합도 순위">
            <a:extLst xmlns:a="http://schemas.openxmlformats.org/drawingml/2006/main">
              <a:ext uri="{FF2B5EF4-FFF2-40B4-BE49-F238E27FC236}">
                <a16:creationId xmlns:a16="http://schemas.microsoft.com/office/drawing/2014/main" id="{4E814872-863A-4D1D-B315-170AD55B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적합도 순위</a:t>
            </a:r>
          </a:p>
        </p:txBody>
      </p:sp>
      <p:sp>
        <p:nvSpPr>
          <p:cNvPr id="17" name="가격·성능·리뷰·밸런스">
            <a:extLst xmlns:a="http://schemas.openxmlformats.org/drawingml/2006/main">
              <a:ext uri="{FF2B5EF4-FFF2-40B4-BE49-F238E27FC236}">
                <a16:creationId xmlns:a16="http://schemas.microsoft.com/office/drawing/2014/main" id="{BA9C1E53-5533-44B5-9117-A2BF0141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724150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가격·성능·리뷰·밸런스</a:t>
            </a:r>
          </a:p>
        </p:txBody>
      </p:sp>
      <p:cxnSp>
        <p:nvCxnSpPr>
          <p:cNvPr id="8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005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7725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29540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21" name="PC 본체 조립">
            <a:extLst xmlns:a="http://schemas.openxmlformats.org/drawingml/2006/main">
              <a:ext uri="{FF2B5EF4-FFF2-40B4-BE49-F238E27FC236}">
                <a16:creationId xmlns:a16="http://schemas.microsoft.com/office/drawing/2014/main" id="{4AA596CC-E7B7-4A47-B2D8-F385E284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PC 본체 조립</a:t>
            </a:r>
          </a:p>
        </p:txBody>
      </p:sp>
      <p:sp>
        <p:nvSpPr>
          <p:cNvPr id="22" name="신규 구성 또는&#10;보유 구성 업그레이드">
            <a:extLst xmlns:a="http://schemas.openxmlformats.org/drawingml/2006/main">
              <a:ext uri="{FF2B5EF4-FFF2-40B4-BE49-F238E27FC236}">
                <a16:creationId xmlns:a16="http://schemas.microsoft.com/office/drawing/2014/main" id="{C122855C-FA3E-46CC-AEE8-9D3C0755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신규 구성 또는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보유 구성 업그레이드</a:t>
            </a:r>
          </a:p>
        </p:txBody>
      </p:sp>
      <p:sp>
        <p:nvSpPr>
          <p:cNvPr id="23" name="세트 최적화">
            <a:extLst xmlns:a="http://schemas.openxmlformats.org/drawingml/2006/main">
              <a:ext uri="{FF2B5EF4-FFF2-40B4-BE49-F238E27FC236}">
                <a16:creationId xmlns:a16="http://schemas.microsoft.com/office/drawing/2014/main" id="{C89A6FCB-98EA-4395-BCFB-A687081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00500"/>
            <a:ext cx="32861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4" name="세트 최적화">
            <a:extLst xmlns:a="http://schemas.openxmlformats.org/drawingml/2006/main">
              <a:ext uri="{FF2B5EF4-FFF2-40B4-BE49-F238E27FC236}">
                <a16:creationId xmlns:a16="http://schemas.microsoft.com/office/drawing/2014/main" id="{D0DA00C3-1497-4D9E-BE65-86745149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세트 최적화</a:t>
            </a:r>
          </a:p>
        </p:txBody>
      </p:sp>
      <p:sp>
        <p:nvSpPr>
          <p:cNvPr id="25" name="부품 조합·예산 조정&#10;소켓·전력·공간 제약">
            <a:extLst xmlns:a="http://schemas.openxmlformats.org/drawingml/2006/main">
              <a:ext uri="{FF2B5EF4-FFF2-40B4-BE49-F238E27FC236}">
                <a16:creationId xmlns:a16="http://schemas.microsoft.com/office/drawing/2014/main" id="{D223B78B-601A-4051-8083-53E6D486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24400"/>
            <a:ext cx="2905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부품 조합·예산 조정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소켓·전력·공간 제약</a:t>
            </a:r>
          </a:p>
        </p:txBody>
      </p:sp>
      <p:sp>
        <p:nvSpPr>
          <p:cNvPr id="26" name="전체 조합 검증">
            <a:extLst xmlns:a="http://schemas.openxmlformats.org/drawingml/2006/main">
              <a:ext uri="{FF2B5EF4-FFF2-40B4-BE49-F238E27FC236}">
                <a16:creationId xmlns:a16="http://schemas.microsoft.com/office/drawing/2014/main" id="{A88373DA-132D-44BE-A2CB-2E324620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7" name="전체 조합 검증">
            <a:extLst xmlns:a="http://schemas.openxmlformats.org/drawingml/2006/main">
              <a:ext uri="{FF2B5EF4-FFF2-40B4-BE49-F238E27FC236}">
                <a16:creationId xmlns:a16="http://schemas.microsoft.com/office/drawing/2014/main" id="{4DD51F2A-5E2D-48A5-9066-3BC43DF0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전체 조합 검증</a:t>
            </a:r>
          </a:p>
        </p:txBody>
      </p:sp>
      <p:sp>
        <p:nvSpPr>
          <p:cNvPr id="28" name="도구 관측값 + 자료 근거&#10;충돌·병목·미확인 확인">
            <a:extLst xmlns:a="http://schemas.openxmlformats.org/drawingml/2006/main">
              <a:ext uri="{FF2B5EF4-FFF2-40B4-BE49-F238E27FC236}">
                <a16:creationId xmlns:a16="http://schemas.microsoft.com/office/drawing/2014/main" id="{4977074A-0F9B-4F06-82FD-E925E3E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304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도구 관측값 + 자료 근거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충돌·병목·미확인 확인</a:t>
            </a:r>
          </a:p>
        </p:txBody>
      </p:sp>
      <p:cxnSp>
        <p:nvCxnSpPr>
          <p:cNvPr id="92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572250" y="4762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30" name="유아용품 준비">
            <a:extLst xmlns:a="http://schemas.openxmlformats.org/drawingml/2006/main">
              <a:ext uri="{FF2B5EF4-FFF2-40B4-BE49-F238E27FC236}">
                <a16:creationId xmlns:a16="http://schemas.microsoft.com/office/drawing/2014/main" id="{EAD560B9-79B8-4BBE-A1B2-734FF7E9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246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유아용품 준비</a:t>
            </a:r>
          </a:p>
        </p:txBody>
      </p:sp>
      <p:sp>
        <p:nvSpPr>
          <p:cNvPr id="31" name="월령·발달 조건&#10;보유품·필요 시점">
            <a:extLst xmlns:a="http://schemas.openxmlformats.org/drawingml/2006/main">
              <a:ext uri="{FF2B5EF4-FFF2-40B4-BE49-F238E27FC236}">
                <a16:creationId xmlns:a16="http://schemas.microsoft.com/office/drawing/2014/main" id="{AEA8AA51-718E-4354-9E11-D4F1590E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월령·발달 조건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보유품·필요 시점</a:t>
            </a:r>
          </a:p>
        </p:txBody>
      </p:sp>
      <p:sp>
        <p:nvSpPr>
          <p:cNvPr id="32" name="품목별 근거 검증">
            <a:extLst xmlns:a="http://schemas.openxmlformats.org/drawingml/2006/main">
              <a:ext uri="{FF2B5EF4-FFF2-40B4-BE49-F238E27FC236}">
                <a16:creationId xmlns:a16="http://schemas.microsoft.com/office/drawing/2014/main" id="{FDCBD968-9DC3-45AA-8735-8259DBC9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667500"/>
            <a:ext cx="32861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33" name="품목별 근거 검증">
            <a:extLst xmlns:a="http://schemas.openxmlformats.org/drawingml/2006/main">
              <a:ext uri="{FF2B5EF4-FFF2-40B4-BE49-F238E27FC236}">
                <a16:creationId xmlns:a16="http://schemas.microsoft.com/office/drawing/2014/main" id="{8ECDF5EA-98EE-4994-BA39-6DAE3DB4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85800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품목별 근거 검증</a:t>
            </a:r>
          </a:p>
        </p:txBody>
      </p:sp>
      <p:sp>
        <p:nvSpPr>
          <p:cNvPr id="34" name="월령·사용 조건&#10;인증·리콜·위험 확인">
            <a:extLst xmlns:a="http://schemas.openxmlformats.org/drawingml/2006/main">
              <a:ext uri="{FF2B5EF4-FFF2-40B4-BE49-F238E27FC236}">
                <a16:creationId xmlns:a16="http://schemas.microsoft.com/office/drawing/2014/main" id="{AA94368A-B6D5-4931-8E78-B286687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91400"/>
            <a:ext cx="2905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월령·사용 조건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인증·리콜·위험 확인</a:t>
            </a:r>
          </a:p>
        </p:txBody>
      </p:sp>
      <p:sp>
        <p:nvSpPr>
          <p:cNvPr id="35" name="시점별 예산 배분">
            <a:extLst xmlns:a="http://schemas.openxmlformats.org/drawingml/2006/main">
              <a:ext uri="{FF2B5EF4-FFF2-40B4-BE49-F238E27FC236}">
                <a16:creationId xmlns:a16="http://schemas.microsoft.com/office/drawing/2014/main" id="{1985B6DA-D8FC-46DA-B8CA-47975E2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67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36" name="시점별 예산 배분">
            <a:extLst xmlns:a="http://schemas.openxmlformats.org/drawingml/2006/main">
              <a:ext uri="{FF2B5EF4-FFF2-40B4-BE49-F238E27FC236}">
                <a16:creationId xmlns:a16="http://schemas.microsoft.com/office/drawing/2014/main" id="{4488D8F1-043C-4573-8B58-CB63B563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858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시점별 예산 배분</a:t>
            </a:r>
          </a:p>
        </p:txBody>
      </p:sp>
      <p:sp>
        <p:nvSpPr>
          <p:cNvPr id="37" name="지금 / 곧 / 나중&#10;보유 충족·필수품 우선">
            <a:extLst xmlns:a="http://schemas.openxmlformats.org/drawingml/2006/main">
              <a:ext uri="{FF2B5EF4-FFF2-40B4-BE49-F238E27FC236}">
                <a16:creationId xmlns:a16="http://schemas.microsoft.com/office/drawing/2014/main" id="{B832785C-30BB-42A8-9D51-E4AEBA0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391400"/>
            <a:ext cx="304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지금 / 곧 / 나중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보유 충족·필수품 우선</a:t>
            </a:r>
          </a:p>
        </p:txBody>
      </p:sp>
      <p:cxnSp>
        <p:nvCxnSpPr>
          <p:cNvPr id="101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572250" y="7429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39" name="추천 결과·근거 설명">
            <a:extLst xmlns:a="http://schemas.openxmlformats.org/drawingml/2006/main">
              <a:ext uri="{FF2B5EF4-FFF2-40B4-BE49-F238E27FC236}">
                <a16:creationId xmlns:a16="http://schemas.microsoft.com/office/drawing/2014/main" id="{8A0371E1-13F2-4FEF-9E79-CEF95654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381625"/>
            <a:ext cx="3810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0" name="추천 결과·근거 설명">
            <a:extLst xmlns:a="http://schemas.openxmlformats.org/drawingml/2006/main">
              <a:ext uri="{FF2B5EF4-FFF2-40B4-BE49-F238E27FC236}">
                <a16:creationId xmlns:a16="http://schemas.microsoft.com/office/drawing/2014/main" id="{88274BEE-5AA2-4988-B5F0-5CB3D1A8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721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결과·근거 설명</a:t>
            </a:r>
          </a:p>
        </p:txBody>
      </p:sp>
      <p:sp>
        <p:nvSpPr>
          <p:cNvPr id="41" name="선택 이유·계산 기여도&#10;대안·주의사항·인용 출처&#10;사용자가 비교 후 선택">
            <a:extLst xmlns:a="http://schemas.openxmlformats.org/drawingml/2006/main">
              <a:ext uri="{FF2B5EF4-FFF2-40B4-BE49-F238E27FC236}">
                <a16:creationId xmlns:a16="http://schemas.microsoft.com/office/drawing/2014/main" id="{778C6A3E-C47B-44FC-90D8-B1282308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105525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선택 이유·계산 기여도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대안·주의사항·인용 출처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사용자가 비교 후 선택</a:t>
            </a:r>
          </a:p>
        </p:txBody>
      </p:sp>
      <p:sp>
        <p:nvSpPr>
          <p:cNvPr id="4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AD039E47-4AAB-430A-B477-7BEB53B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3337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173944B7-CE4E-4FDB-97AB-7549513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281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4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0C1AF68D-43D3-4616-BAFB-F92F4C59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0" cy="3790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5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602A5F80-F8AE-4B46-B99A-A7700FC3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62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6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7A9851E5-9DF8-49E3-B89E-C561C584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76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4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65AE1B90-4163-4FB5-8EE4-1D2600F6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429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48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E1A2B962-4C26-4F20-9479-BBA9DE4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343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cxnSp>
        <p:nvCxnSpPr>
          <p:cNvPr id="112" name=""/>
          <p:cNvCxnSpPr>
            <a:stCxn xmlns:a="http://schemas.openxmlformats.org/drawingml/2006/main" id="26" idx="3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10858500" y="4762500"/>
            <a:ext cx="4667250" cy="61912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35" idx="3"/>
            <a:endCxn xmlns:a="http://schemas.openxmlformats.org/drawingml/2006/main" id="39" idx="2"/>
          </p:cNvCxnSpPr>
          <p:nvPr/>
        </p:nvCxnSpPr>
        <p:spPr>
          <a:xfrm xmlns:a="http://schemas.openxmlformats.org/drawingml/2006/main" flipV="1">
            <a:off x="10858500" y="7143750"/>
            <a:ext cx="4667250" cy="28575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51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FC4F98B7-8CB8-41BB-8606-38D2836C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C443CA1A-3547-49DF-8640-65FB658F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943600"/>
            <a:ext cx="421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BDE36966-DD00-49E1-AD9F-8618E8C8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5245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4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929927D0-36EC-43AF-8389-EFD0ADE2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10200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55" name="기준 미달: 후보를 바꿔 재구성·재검증">
            <a:extLst xmlns:a="http://schemas.openxmlformats.org/drawingml/2006/main">
              <a:ext uri="{FF2B5EF4-FFF2-40B4-BE49-F238E27FC236}">
                <a16:creationId xmlns:a16="http://schemas.microsoft.com/office/drawing/2014/main" id="{778E819E-C816-4507-B5D8-F157D20F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198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기준 미달: 후보를 바꿔 재구성·재검증</a:t>
            </a:r>
          </a:p>
        </p:txBody>
      </p:sp>
      <p:sp>
        <p:nvSpPr>
          <p:cNvPr id="56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6102DCBD-6783-41BF-BFAF-32BD03C3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81915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7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8AAF58EC-D203-4237-8559-C6EC6D1F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8715375"/>
            <a:ext cx="216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8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2CF5E23A-77F1-4B4D-B3A2-6F23A73E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0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59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361F7E7C-3FA5-43F5-A619-FFF3AD14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60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7194D6DA-5D5C-4911-AC20-110827BF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1912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878"/>
            </a:solidFill>
            <a:prstDash val="solid"/>
          </a:ln>
        </p:spPr>
      </p:sp>
      <p:sp>
        <p:nvSpPr>
          <p:cNvPr id="61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D7AECE84-2B93-42F9-9F95-14AF640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34150"/>
            <a:ext cx="17145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878"/>
          </a:solidFill>
          <a:ln xmlns:a="http://schemas.openxmlformats.org/drawingml/2006/main" w="0">
            <a:solidFill>
              <a:srgbClr val="176878"/>
            </a:solidFill>
          </a:ln>
        </p:spPr>
      </p:sp>
      <p:sp>
        <p:nvSpPr>
          <p:cNvPr id="62" name="품목 기준 미달: 다음 후보로 재검증">
            <a:extLst xmlns:a="http://schemas.openxmlformats.org/drawingml/2006/main">
              <a:ext uri="{FF2B5EF4-FFF2-40B4-BE49-F238E27FC236}">
                <a16:creationId xmlns:a16="http://schemas.microsoft.com/office/drawing/2014/main" id="{BD4145DC-2E1D-4896-B59D-0DE26A0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4867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품목 기준 미달: 다음 후보로 재검증</a:t>
            </a:r>
          </a:p>
        </p:txBody>
      </p:sp>
      <p:sp>
        <p:nvSpPr>
          <p:cNvPr id="63" name="근거가 없으면 미확인으로 표시합니다.&#10;재탐색 한도 후에도 남는 위험은 드러냅니다.">
            <a:extLst xmlns:a="http://schemas.openxmlformats.org/drawingml/2006/main">
              <a:ext uri="{FF2B5EF4-FFF2-40B4-BE49-F238E27FC236}">
                <a16:creationId xmlns:a16="http://schemas.microsoft.com/office/drawing/2014/main" id="{924C973C-993A-498E-81C4-6CAF34B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8001000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근거가 없으면 미확인으로 표시합니다.</a:t>
            </a:r>
          </a:p>
          <a:p xmlns:a="http://schemas.openxmlformats.org/drawingml/2006/main">
            <a:pPr algn="l">
              <a:def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재탐색 한도 후에도 남는 위험은 드러냅니다.</a:t>
            </a:r>
          </a:p>
        </p:txBody>
      </p:sp>
    </p:spTree>
    <p:extLst>
      <p:ext uri="{BB962C8B-B14F-4D97-AF65-F5344CB8AC3E}">
        <p14:creationId xmlns:p14="http://schemas.microsoft.com/office/powerpoint/2010/main" val="137041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근거와 피드백이 추천에 반영되는 흐름">
            <a:extLst xmlns:a="http://schemas.openxmlformats.org/drawingml/2006/main">
              <a:ext uri="{FF2B5EF4-FFF2-40B4-BE49-F238E27FC236}">
                <a16:creationId xmlns:a16="http://schemas.microsoft.com/office/drawing/2014/main" id="{1E5B06ED-02C4-43FD-B912-F0AB588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근거와 피드백이 추천에 반영되는 흐름</a:t>
            </a:r>
          </a:p>
        </p:txBody>
      </p:sp>
      <p:sp>
        <p:nvSpPr>
          <p:cNvPr id="2" name="자료 검색과 리뷰 분석은 추천을 뒷받침하고, 사용 이후의 피드백은 검토를 거쳐 다음 추천을 개선합니다.">
            <a:extLst xmlns:a="http://schemas.openxmlformats.org/drawingml/2006/main">
              <a:ext uri="{FF2B5EF4-FFF2-40B4-BE49-F238E27FC236}">
                <a16:creationId xmlns:a16="http://schemas.microsoft.com/office/drawing/2014/main" id="{41C7654C-4816-40F4-A032-970D41A5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695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자료 검색과 리뷰 분석은 추천을 뒷받침하고, 사용 이후의 피드백은 검토를 거쳐 다음 추천을 개선합니다.</a:t>
            </a:r>
          </a:p>
        </p:txBody>
      </p:sp>
      <p:sp>
        <p:nvSpPr>
          <p:cNvPr id="3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4116F7A1-046F-4868-99D1-A463A34D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0"/>
            <a:ext cx="1714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3E9"/>
            </a:solidFill>
            <a:prstDash val="solid"/>
          </a:ln>
        </p:spPr>
      </p:sp>
      <p:sp>
        <p:nvSpPr>
          <p:cNvPr id="4" name="TrueFit  ·  전체 서비스 기획">
            <a:extLst xmlns:a="http://schemas.openxmlformats.org/drawingml/2006/main">
              <a:ext uri="{FF2B5EF4-FFF2-40B4-BE49-F238E27FC236}">
                <a16:creationId xmlns:a16="http://schemas.microsoft.com/office/drawing/2014/main" id="{BE9A9653-2AEC-486C-B61A-1E1EA13B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0"/>
            <a:ext cx="1619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TrueFit  ·  전체 서비스 기획</a:t>
            </a:r>
          </a:p>
        </p:txBody>
      </p:sp>
      <p:sp>
        <p:nvSpPr>
          <p:cNvPr id="5" name="3 / 3">
            <a:extLst xmlns:a="http://schemas.openxmlformats.org/drawingml/2006/main">
              <a:ext uri="{FF2B5EF4-FFF2-40B4-BE49-F238E27FC236}">
                <a16:creationId xmlns:a16="http://schemas.microsoft.com/office/drawing/2014/main" id="{66D0D8AE-F16E-48FF-9DE7-AEAD13A0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7155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3 / 3</a:t>
            </a:r>
          </a:p>
        </p:txBody>
      </p:sp>
      <p:sp>
        <p:nvSpPr>
          <p:cNvPr id="6" name="상품 자료">
            <a:extLst xmlns:a="http://schemas.openxmlformats.org/drawingml/2006/main">
              <a:ext uri="{FF2B5EF4-FFF2-40B4-BE49-F238E27FC236}">
                <a16:creationId xmlns:a16="http://schemas.microsoft.com/office/drawing/2014/main" id="{343F20B9-0E5D-4295-92D7-8D608D38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상품 자료</a:t>
            </a:r>
          </a:p>
        </p:txBody>
      </p:sp>
      <p:sp>
        <p:nvSpPr>
          <p:cNvPr id="7" name="설명서·사양표&#10;이미지·공식 정보">
            <a:extLst xmlns:a="http://schemas.openxmlformats.org/drawingml/2006/main">
              <a:ext uri="{FF2B5EF4-FFF2-40B4-BE49-F238E27FC236}">
                <a16:creationId xmlns:a16="http://schemas.microsoft.com/office/drawing/2014/main" id="{5F2363AE-DEBA-4770-A66C-ABCC7656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설명서·사양표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이미지·공식 정보</a:t>
            </a:r>
          </a:p>
        </p:txBody>
      </p:sp>
      <p:sp>
        <p:nvSpPr>
          <p:cNvPr id="8" name="자료 수집·권한 확인">
            <a:extLst xmlns:a="http://schemas.openxmlformats.org/drawingml/2006/main">
              <a:ext uri="{FF2B5EF4-FFF2-40B4-BE49-F238E27FC236}">
                <a16:creationId xmlns:a16="http://schemas.microsoft.com/office/drawing/2014/main" id="{07EFD23C-97AF-403B-8934-4EFCED18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9" name="자료 수집·권한 확인">
            <a:extLst xmlns:a="http://schemas.openxmlformats.org/drawingml/2006/main">
              <a:ext uri="{FF2B5EF4-FFF2-40B4-BE49-F238E27FC236}">
                <a16:creationId xmlns:a16="http://schemas.microsoft.com/office/drawing/2014/main" id="{1AAF6D37-77AF-40C9-858E-C4A08FE1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자료 수집·권한 확인</a:t>
            </a:r>
          </a:p>
        </p:txBody>
      </p:sp>
      <p:sp>
        <p:nvSpPr>
          <p:cNvPr id="10" name="원본·버전·적용 상품&#10;객체 저장소에 보관">
            <a:extLst xmlns:a="http://schemas.openxmlformats.org/drawingml/2006/main">
              <a:ext uri="{FF2B5EF4-FFF2-40B4-BE49-F238E27FC236}">
                <a16:creationId xmlns:a16="http://schemas.microsoft.com/office/drawing/2014/main" id="{AE32C9A2-7E6F-4B34-AE33-0DA86509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95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원본·버전·적용 상품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객체 저장소에 보관</a:t>
            </a:r>
          </a:p>
        </p:txBody>
      </p:sp>
      <p:sp>
        <p:nvSpPr>
          <p:cNvPr id="11" name="검색 자료 준비">
            <a:extLst xmlns:a="http://schemas.openxmlformats.org/drawingml/2006/main">
              <a:ext uri="{FF2B5EF4-FFF2-40B4-BE49-F238E27FC236}">
                <a16:creationId xmlns:a16="http://schemas.microsoft.com/office/drawing/2014/main" id="{F57E970E-813E-4941-BF72-D03A208D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2" name="검색 자료 준비">
            <a:extLst xmlns:a="http://schemas.openxmlformats.org/drawingml/2006/main">
              <a:ext uri="{FF2B5EF4-FFF2-40B4-BE49-F238E27FC236}">
                <a16:creationId xmlns:a16="http://schemas.microsoft.com/office/drawing/2014/main" id="{641451C0-476C-495E-8EF1-91945145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검색 자료 준비</a:t>
            </a:r>
          </a:p>
        </p:txBody>
      </p:sp>
      <p:sp>
        <p:nvSpPr>
          <p:cNvPr id="13" name="추출·OCR·청크화&#10;임베딩·게시">
            <a:extLst xmlns:a="http://schemas.openxmlformats.org/drawingml/2006/main">
              <a:ext uri="{FF2B5EF4-FFF2-40B4-BE49-F238E27FC236}">
                <a16:creationId xmlns:a16="http://schemas.microsoft.com/office/drawing/2014/main" id="{0377CC8B-D14F-4F04-979A-6AFAD37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19400"/>
            <a:ext cx="295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추출·OCR·청크화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임베딩·게시</a:t>
            </a:r>
          </a:p>
        </p:txBody>
      </p:sp>
      <p:sp>
        <p:nvSpPr>
          <p:cNvPr id="14" name="근거 검색·인용">
            <a:extLst xmlns:a="http://schemas.openxmlformats.org/drawingml/2006/main">
              <a:ext uri="{FF2B5EF4-FFF2-40B4-BE49-F238E27FC236}">
                <a16:creationId xmlns:a16="http://schemas.microsoft.com/office/drawing/2014/main" id="{96ADF25A-3F3F-4A42-A28D-FBC0BE34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095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1F6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15" name="근거 검색·인용">
            <a:extLst xmlns:a="http://schemas.openxmlformats.org/drawingml/2006/main">
              <a:ext uri="{FF2B5EF4-FFF2-40B4-BE49-F238E27FC236}">
                <a16:creationId xmlns:a16="http://schemas.microsoft.com/office/drawing/2014/main" id="{692DDB72-9FBF-4682-A245-B74E83D6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2860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 검색·인용</a:t>
            </a:r>
          </a:p>
        </p:txBody>
      </p:sp>
      <p:sp>
        <p:nvSpPr>
          <p:cNvPr id="16" name="상품·조건에 맞게 검색&#10;출처·원문 위치 제시">
            <a:extLst xmlns:a="http://schemas.openxmlformats.org/drawingml/2006/main">
              <a:ext uri="{FF2B5EF4-FFF2-40B4-BE49-F238E27FC236}">
                <a16:creationId xmlns:a16="http://schemas.microsoft.com/office/drawing/2014/main" id="{AD713CBE-4806-4EB4-93F7-C346EAF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19400"/>
            <a:ext cx="295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상품·조건에 맞게 검색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출처·원문 위치 제시</a:t>
            </a:r>
          </a:p>
        </p:txBody>
      </p: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77000" y="2857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810875" y="2857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19" name="추천 검증과&#10;선택 이유에&#10;함께 사용">
            <a:extLst xmlns:a="http://schemas.openxmlformats.org/drawingml/2006/main">
              <a:ext uri="{FF2B5EF4-FFF2-40B4-BE49-F238E27FC236}">
                <a16:creationId xmlns:a16="http://schemas.microsoft.com/office/drawing/2014/main" id="{C28ADBB4-9D83-4CF1-A7AB-88D52A91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352675"/>
            <a:ext cx="2143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검증과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선택 이유에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함께 사용</a:t>
            </a:r>
          </a:p>
        </p:txBody>
      </p:sp>
      <p:sp>
        <p:nvSpPr>
          <p:cNvPr id="20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97E2DF26-5E67-4E1C-B6BA-A9D67F12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21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E31395BC-9891-4070-AD5A-414BAA9C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2771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22" name="실제 리뷰">
            <a:extLst xmlns:a="http://schemas.openxmlformats.org/drawingml/2006/main">
              <a:ext uri="{FF2B5EF4-FFF2-40B4-BE49-F238E27FC236}">
                <a16:creationId xmlns:a16="http://schemas.microsoft.com/office/drawing/2014/main" id="{513FA9C8-F93A-4025-8BDA-E2446221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실제 리뷰</a:t>
            </a:r>
          </a:p>
        </p:txBody>
      </p:sp>
      <p:sp>
        <p:nvSpPr>
          <p:cNvPr id="23" name="외부 리뷰&#10;서비스 작성 리뷰">
            <a:extLst xmlns:a="http://schemas.openxmlformats.org/drawingml/2006/main">
              <a:ext uri="{FF2B5EF4-FFF2-40B4-BE49-F238E27FC236}">
                <a16:creationId xmlns:a16="http://schemas.microsoft.com/office/drawing/2014/main" id="{F246FE29-AF38-4060-8CEA-6453832D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외부 리뷰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서비스 작성 리뷰</a:t>
            </a:r>
          </a:p>
        </p:txBody>
      </p:sp>
      <p:sp>
        <p:nvSpPr>
          <p:cNvPr id="24" name="대상·출처 구분">
            <a:extLst xmlns:a="http://schemas.openxmlformats.org/drawingml/2006/main">
              <a:ext uri="{FF2B5EF4-FFF2-40B4-BE49-F238E27FC236}">
                <a16:creationId xmlns:a16="http://schemas.microsoft.com/office/drawing/2014/main" id="{80FCB61B-FE79-4BA8-8841-C5E0026D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5" name="대상·출처 구분">
            <a:extLst xmlns:a="http://schemas.openxmlformats.org/drawingml/2006/main">
              <a:ext uri="{FF2B5EF4-FFF2-40B4-BE49-F238E27FC236}">
                <a16:creationId xmlns:a16="http://schemas.microsoft.com/office/drawing/2014/main" id="{5F236CDA-3187-40DF-9BD6-4ECDCD82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24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대상·출처 구분</a:t>
            </a:r>
          </a:p>
        </p:txBody>
      </p:sp>
      <p:sp>
        <p:nvSpPr>
          <p:cNvPr id="26" name="부품 / 전체 PC 구분&#10;본문 편집 버전 연결&#10;전체 PC는 사용 구성 고정">
            <a:extLst xmlns:a="http://schemas.openxmlformats.org/drawingml/2006/main">
              <a:ext uri="{FF2B5EF4-FFF2-40B4-BE49-F238E27FC236}">
                <a16:creationId xmlns:a16="http://schemas.microsoft.com/office/drawing/2014/main" id="{8D08A332-AB38-4940-B1BB-C34CC5C5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부품 / 전체 PC 구분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본문 편집 버전 연결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전체 PC는 사용 구성 고정</a:t>
            </a:r>
          </a:p>
        </p:txBody>
      </p:sp>
      <p:sp>
        <p:nvSpPr>
          <p:cNvPr id="27" name="신호 분석·검토">
            <a:extLst xmlns:a="http://schemas.openxmlformats.org/drawingml/2006/main">
              <a:ext uri="{FF2B5EF4-FFF2-40B4-BE49-F238E27FC236}">
                <a16:creationId xmlns:a16="http://schemas.microsoft.com/office/drawing/2014/main" id="{ACE6D07E-C836-4C0F-8524-60D9FF83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3387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28" name="신호 분석·검토">
            <a:extLst xmlns:a="http://schemas.openxmlformats.org/drawingml/2006/main">
              <a:ext uri="{FF2B5EF4-FFF2-40B4-BE49-F238E27FC236}">
                <a16:creationId xmlns:a16="http://schemas.microsoft.com/office/drawing/2014/main" id="{03D87FA3-0BEB-40F5-8EED-B863E1AC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신호 분석·검토</a:t>
            </a:r>
          </a:p>
        </p:txBody>
      </p:sp>
      <p:sp>
        <p:nvSpPr>
          <p:cNvPr id="29" name="관측 가능한 근거 수집&#10;의심·불충분 신호 검토&#10;제외 이유와 문맥 보존">
            <a:extLst xmlns:a="http://schemas.openxmlformats.org/drawingml/2006/main">
              <a:ext uri="{FF2B5EF4-FFF2-40B4-BE49-F238E27FC236}">
                <a16:creationId xmlns:a16="http://schemas.microsoft.com/office/drawing/2014/main" id="{7EDBBF2C-3729-42EC-8406-DD4514D8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577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관측 가능한 근거 수집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의심·불충분 신호 검토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제외 이유와 문맥 보존</a:t>
            </a:r>
          </a:p>
        </p:txBody>
      </p:sp>
      <p:sp>
        <p:nvSpPr>
          <p:cNvPr id="30" name="요약·통계 제공">
            <a:extLst xmlns:a="http://schemas.openxmlformats.org/drawingml/2006/main">
              <a:ext uri="{FF2B5EF4-FFF2-40B4-BE49-F238E27FC236}">
                <a16:creationId xmlns:a16="http://schemas.microsoft.com/office/drawing/2014/main" id="{D69FB062-5B03-4751-AAB8-4E938FD8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3387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5F1EA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31" name="요약·통계 제공">
            <a:extLst xmlns:a="http://schemas.openxmlformats.org/drawingml/2006/main">
              <a:ext uri="{FF2B5EF4-FFF2-40B4-BE49-F238E27FC236}">
                <a16:creationId xmlns:a16="http://schemas.microsoft.com/office/drawing/2014/main" id="{1B2B82D9-A1E6-4D42-9505-BCFE731F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524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요약·통계 제공</a:t>
            </a:r>
          </a:p>
        </p:txBody>
      </p:sp>
      <p:sp>
        <p:nvSpPr>
          <p:cNvPr id="32" name="중복 없이 평점 집계&#10;전후 통계·대표 요약&#10;리뷰 근거 카드 제공">
            <a:extLst xmlns:a="http://schemas.openxmlformats.org/drawingml/2006/main">
              <a:ext uri="{FF2B5EF4-FFF2-40B4-BE49-F238E27FC236}">
                <a16:creationId xmlns:a16="http://schemas.microsoft.com/office/drawing/2014/main" id="{65D0E416-C4DB-4972-9988-D5BAACE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0577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중복 없이 평점 집계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전후 통계·대표 요약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리뷰 근거 카드 제공</a:t>
            </a:r>
          </a:p>
        </p:txBody>
      </p:sp>
      <p:cxnSp>
        <p:nvCxnSpPr>
          <p:cNvPr id="87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477000" y="51911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88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0810875" y="51911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35" name="후보 비교와&#10;근거 검증에&#10;반영">
            <a:extLst xmlns:a="http://schemas.openxmlformats.org/drawingml/2006/main">
              <a:ext uri="{FF2B5EF4-FFF2-40B4-BE49-F238E27FC236}">
                <a16:creationId xmlns:a16="http://schemas.microsoft.com/office/drawing/2014/main" id="{EFEE28CA-8549-447B-A77C-5777923E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7148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후보 비교와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근거 검증에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반영</a:t>
            </a:r>
          </a:p>
        </p:txBody>
      </p:sp>
      <p:sp>
        <p:nvSpPr>
          <p:cNvPr id="36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00F4E17B-9412-4F5C-9111-1FD46EF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5143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37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54C975FD-BBD4-42EA-ADFF-A5E4F29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5057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38" name="지속 개선">
            <a:extLst xmlns:a="http://schemas.openxmlformats.org/drawingml/2006/main">
              <a:ext uri="{FF2B5EF4-FFF2-40B4-BE49-F238E27FC236}">
                <a16:creationId xmlns:a16="http://schemas.microsoft.com/office/drawing/2014/main" id="{4CD3E13F-3624-466E-A637-10C244A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878"/>
                </a:solidFill>
                <a:latin typeface="Malgun Gothic"/>
                <a:ea typeface="Malgun Gothic"/>
                <a:cs typeface="Malgun Gothic"/>
              </a:rPr>
              <a:t>지속 개선</a:t>
            </a:r>
          </a:p>
        </p:txBody>
      </p:sp>
      <p:sp>
        <p:nvSpPr>
          <p:cNvPr id="39" name="추천 중 행동&#10;사용 후 피드백">
            <a:extLst xmlns:a="http://schemas.openxmlformats.org/drawingml/2006/main">
              <a:ext uri="{FF2B5EF4-FFF2-40B4-BE49-F238E27FC236}">
                <a16:creationId xmlns:a16="http://schemas.microsoft.com/office/drawing/2014/main" id="{0991351D-2447-47F9-AFFA-2F0F11D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0092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추천 중 행동</a:t>
            </a:r>
          </a:p>
          <a:p xmlns:a="http://schemas.openxmlformats.org/drawingml/2006/main">
            <a:pPr algn="l">
              <a:def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사용 후 피드백</a:t>
            </a:r>
          </a:p>
        </p:txBody>
      </p:sp>
      <p:sp>
        <p:nvSpPr>
          <p:cNvPr id="40" name="행동·사용 경험 수집">
            <a:extLst xmlns:a="http://schemas.openxmlformats.org/drawingml/2006/main">
              <a:ext uri="{FF2B5EF4-FFF2-40B4-BE49-F238E27FC236}">
                <a16:creationId xmlns:a16="http://schemas.microsoft.com/office/drawing/2014/main" id="{9949DC04-8D03-4D92-96A1-ED031B7E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7627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1" name="행동·사용 경험 수집">
            <a:extLst xmlns:a="http://schemas.openxmlformats.org/drawingml/2006/main">
              <a:ext uri="{FF2B5EF4-FFF2-40B4-BE49-F238E27FC236}">
                <a16:creationId xmlns:a16="http://schemas.microsoft.com/office/drawing/2014/main" id="{0DE328A2-7B78-4063-A088-9688DB46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95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행동·사용 경험 수집</a:t>
            </a:r>
          </a:p>
        </p:txBody>
      </p:sp>
      <p:sp>
        <p:nvSpPr>
          <p:cNvPr id="42" name="노출·교체·제외·확정&#10;리뷰·오류·이슈 제보">
            <a:extLst xmlns:a="http://schemas.openxmlformats.org/drawingml/2006/main">
              <a:ext uri="{FF2B5EF4-FFF2-40B4-BE49-F238E27FC236}">
                <a16:creationId xmlns:a16="http://schemas.microsoft.com/office/drawing/2014/main" id="{8003273E-B151-45B6-A7FB-87767E58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4866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노출·교체·제외·확정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리뷰·오류·이슈 제보</a:t>
            </a:r>
          </a:p>
        </p:txBody>
      </p:sp>
      <p:sp>
        <p:nvSpPr>
          <p:cNvPr id="43" name="학습·평가·검수">
            <a:extLst xmlns:a="http://schemas.openxmlformats.org/drawingml/2006/main">
              <a:ext uri="{FF2B5EF4-FFF2-40B4-BE49-F238E27FC236}">
                <a16:creationId xmlns:a16="http://schemas.microsoft.com/office/drawing/2014/main" id="{9D1EED31-2E78-421E-AADE-027E029A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7627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4" name="학습·평가·검수">
            <a:extLst xmlns:a="http://schemas.openxmlformats.org/drawingml/2006/main">
              <a:ext uri="{FF2B5EF4-FFF2-40B4-BE49-F238E27FC236}">
                <a16:creationId xmlns:a16="http://schemas.microsoft.com/office/drawing/2014/main" id="{3FD2FEEE-3D86-4174-B480-0DB6E945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95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학습·평가·검수</a:t>
            </a:r>
          </a:p>
        </p:txBody>
      </p:sp>
      <p:sp>
        <p:nvSpPr>
          <p:cNvPr id="45" name="실제 표본과 증강 구분&#10;정답 라벨·분할 관리&#10;독립 평가·변경 검토">
            <a:extLst xmlns:a="http://schemas.openxmlformats.org/drawingml/2006/main">
              <a:ext uri="{FF2B5EF4-FFF2-40B4-BE49-F238E27FC236}">
                <a16:creationId xmlns:a16="http://schemas.microsoft.com/office/drawing/2014/main" id="{E05CB3AB-88F5-4C3E-B110-D9181E7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4866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실제 표본과 증강 구분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정답 라벨·분할 관리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독립 평가·변경 검토</a:t>
            </a:r>
          </a:p>
        </p:txBody>
      </p:sp>
      <p:sp>
        <p:nvSpPr>
          <p:cNvPr id="46" name="추천 기준 개선">
            <a:extLst xmlns:a="http://schemas.openxmlformats.org/drawingml/2006/main">
              <a:ext uri="{FF2B5EF4-FFF2-40B4-BE49-F238E27FC236}">
                <a16:creationId xmlns:a16="http://schemas.microsoft.com/office/drawing/2014/main" id="{4C729C72-1F11-4CA9-BA31-70ADBBB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7627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DCDD7"/>
            </a:solidFill>
          </a:ln>
        </p:spPr>
      </p:sp>
      <p:sp>
        <p:nvSpPr>
          <p:cNvPr id="47" name="추천 기준 개선">
            <a:extLst xmlns:a="http://schemas.openxmlformats.org/drawingml/2006/main">
              <a:ext uri="{FF2B5EF4-FFF2-40B4-BE49-F238E27FC236}">
                <a16:creationId xmlns:a16="http://schemas.microsoft.com/office/drawing/2014/main" id="{217526F9-2EB0-430C-B3DC-03B610A5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5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추천 기준 개선</a:t>
            </a:r>
          </a:p>
        </p:txBody>
      </p:sp>
      <p:sp>
        <p:nvSpPr>
          <p:cNvPr id="48" name="가중치·예산 프로필&#10;규격·근거 자료 갱신&#10;검토·승인 후 반영">
            <a:extLst xmlns:a="http://schemas.openxmlformats.org/drawingml/2006/main">
              <a:ext uri="{FF2B5EF4-FFF2-40B4-BE49-F238E27FC236}">
                <a16:creationId xmlns:a16="http://schemas.microsoft.com/office/drawing/2014/main" id="{45CB9E96-3132-431D-B11A-C9A3A35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4866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가중치·예산 프로필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규격·근거 자료 갱신</a:t>
            </a:r>
          </a:p>
          <a:p xmlns:a="http://schemas.openxmlformats.org/drawingml/2006/main">
            <a:pPr algn="l">
              <a:def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D7080"/>
                </a:solidFill>
                <a:latin typeface="Malgun Gothic"/>
                <a:ea typeface="Malgun Gothic"/>
                <a:cs typeface="Malgun Gothic"/>
              </a:rPr>
              <a:t>검토·승인 후 반영</a:t>
            </a:r>
          </a:p>
        </p:txBody>
      </p:sp>
      <p:cxnSp>
        <p:nvCxnSpPr>
          <p:cNvPr id="103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477000" y="76200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cxnSp>
        <p:nvCxnSpPr>
          <p:cNvPr id="104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0810875" y="76200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1A8B6"/>
            </a:solidFill>
            <a:headEnd type="triangle" w="med" len="med"/>
          </a:ln>
        </p:spPr>
      </p:cxnSp>
      <p:sp>
        <p:nvSpPr>
          <p:cNvPr id="51" name="다음 추천의&#10;조건 해석·순위·&#10;검증에 반영">
            <a:extLst xmlns:a="http://schemas.openxmlformats.org/drawingml/2006/main">
              <a:ext uri="{FF2B5EF4-FFF2-40B4-BE49-F238E27FC236}">
                <a16:creationId xmlns:a16="http://schemas.microsoft.com/office/drawing/2014/main" id="{73196270-32F1-41E4-B923-D0524A1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71437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다음 추천의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조건 해석·순위·</a:t>
            </a:r>
          </a:p>
          <a:p xmlns:a="http://schemas.openxmlformats.org/drawingml/2006/main">
            <a:pPr algn="l">
              <a:def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검증에 반영</a:t>
            </a:r>
          </a:p>
        </p:txBody>
      </p:sp>
      <p:sp>
        <p:nvSpPr>
          <p:cNvPr id="52" name="흐름 연결선">
            <a:extLst xmlns:a="http://schemas.openxmlformats.org/drawingml/2006/main">
              <a:ext uri="{FF2B5EF4-FFF2-40B4-BE49-F238E27FC236}">
                <a16:creationId xmlns:a16="http://schemas.microsoft.com/office/drawing/2014/main" id="{7CFB29EA-58BC-4686-8397-D61F0723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76200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1A8B6"/>
            </a:solidFill>
            <a:prstDash val="solid"/>
          </a:ln>
        </p:spPr>
      </p:sp>
      <p:sp>
        <p:nvSpPr>
          <p:cNvPr id="53" name="흐름 방향">
            <a:extLst xmlns:a="http://schemas.openxmlformats.org/drawingml/2006/main">
              <a:ext uri="{FF2B5EF4-FFF2-40B4-BE49-F238E27FC236}">
                <a16:creationId xmlns:a16="http://schemas.microsoft.com/office/drawing/2014/main" id="{CF50316C-8FDE-4015-A900-5634D0A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75342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1A8B6"/>
          </a:solidFill>
          <a:ln xmlns:a="http://schemas.openxmlformats.org/drawingml/2006/main" w="0">
            <a:solidFill>
              <a:srgbClr val="91A8B6"/>
            </a:solidFill>
          </a:ln>
        </p:spPr>
      </p:sp>
      <p:sp>
        <p:nvSpPr>
          <p:cNvPr id="54" name="합성 표본은 학습·평가용으로 격리합니다. 운영 후기 수·평균에는 실제 리뷰만 포함합니다.">
            <a:extLst xmlns:a="http://schemas.openxmlformats.org/drawingml/2006/main">
              <a:ext uri="{FF2B5EF4-FFF2-40B4-BE49-F238E27FC236}">
                <a16:creationId xmlns:a16="http://schemas.microsoft.com/office/drawing/2014/main" id="{97822F3A-BB74-494E-9FA2-ACCF362C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8392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846"/>
                </a:solidFill>
                <a:latin typeface="Malgun Gothic"/>
                <a:ea typeface="Malgun Gothic"/>
                <a:cs typeface="Malgun Gothic"/>
              </a:rPr>
              <a:t>합성 표본은 학습·평가용으로 격리합니다. 운영 후기 수·평균에는 실제 리뷰만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518214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2026-09-11T04:54:32.1060000Z</dcterms:created>
  <dcterms:modified xsi:type="dcterms:W3CDTF">2026-09-11T04:54:32.1060000Z</dcterms:modified>
</coreProperties>
</file>